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4" r:id="rId4"/>
  </p:sldMasterIdLst>
  <p:notesMasterIdLst>
    <p:notesMasterId r:id="rId13"/>
  </p:notesMasterIdLst>
  <p:sldIdLst>
    <p:sldId id="256" r:id="rId5"/>
    <p:sldId id="261" r:id="rId6"/>
    <p:sldId id="279" r:id="rId7"/>
    <p:sldId id="278" r:id="rId8"/>
    <p:sldId id="259" r:id="rId9"/>
    <p:sldId id="260" r:id="rId10"/>
    <p:sldId id="262" r:id="rId11"/>
    <p:sldId id="263" r:id="rId12"/>
  </p:sldIdLst>
  <p:sldSz cx="9144000" cy="6858000" type="screen4x3"/>
  <p:notesSz cx="7099300" cy="10234613"/>
  <p:defaultTextStyle>
    <a:defPPr>
      <a:defRPr lang="de-CH"/>
    </a:defPPr>
    <a:lvl1pPr algn="ctr" rtl="0" fontAlgn="base">
      <a:spcBef>
        <a:spcPct val="0"/>
      </a:spcBef>
      <a:spcAft>
        <a:spcPct val="0"/>
      </a:spcAft>
      <a:defRPr sz="1400" kern="1200">
        <a:solidFill>
          <a:schemeClr val="tx1"/>
        </a:solidFill>
        <a:latin typeface="Arial" charset="0"/>
        <a:ea typeface="+mn-ea"/>
        <a:cs typeface="+mn-cs"/>
      </a:defRPr>
    </a:lvl1pPr>
    <a:lvl2pPr marL="457200" algn="ctr" rtl="0" fontAlgn="base">
      <a:spcBef>
        <a:spcPct val="0"/>
      </a:spcBef>
      <a:spcAft>
        <a:spcPct val="0"/>
      </a:spcAft>
      <a:defRPr sz="1400" kern="1200">
        <a:solidFill>
          <a:schemeClr val="tx1"/>
        </a:solidFill>
        <a:latin typeface="Arial" charset="0"/>
        <a:ea typeface="+mn-ea"/>
        <a:cs typeface="+mn-cs"/>
      </a:defRPr>
    </a:lvl2pPr>
    <a:lvl3pPr marL="914400" algn="ctr" rtl="0" fontAlgn="base">
      <a:spcBef>
        <a:spcPct val="0"/>
      </a:spcBef>
      <a:spcAft>
        <a:spcPct val="0"/>
      </a:spcAft>
      <a:defRPr sz="1400" kern="1200">
        <a:solidFill>
          <a:schemeClr val="tx1"/>
        </a:solidFill>
        <a:latin typeface="Arial" charset="0"/>
        <a:ea typeface="+mn-ea"/>
        <a:cs typeface="+mn-cs"/>
      </a:defRPr>
    </a:lvl3pPr>
    <a:lvl4pPr marL="1371600" algn="ctr" rtl="0" fontAlgn="base">
      <a:spcBef>
        <a:spcPct val="0"/>
      </a:spcBef>
      <a:spcAft>
        <a:spcPct val="0"/>
      </a:spcAft>
      <a:defRPr sz="1400" kern="1200">
        <a:solidFill>
          <a:schemeClr val="tx1"/>
        </a:solidFill>
        <a:latin typeface="Arial" charset="0"/>
        <a:ea typeface="+mn-ea"/>
        <a:cs typeface="+mn-cs"/>
      </a:defRPr>
    </a:lvl4pPr>
    <a:lvl5pPr marL="1828800" algn="ctr" rtl="0" fontAlgn="base">
      <a:spcBef>
        <a:spcPct val="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3F6A"/>
    <a:srgbClr val="29529B"/>
    <a:srgbClr val="4D4D4D"/>
    <a:srgbClr val="808080"/>
    <a:srgbClr val="0E29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37" autoAdjust="0"/>
    <p:restoredTop sz="99299" autoAdjust="0"/>
  </p:normalViewPr>
  <p:slideViewPr>
    <p:cSldViewPr>
      <p:cViewPr varScale="1">
        <p:scale>
          <a:sx n="88" d="100"/>
          <a:sy n="88" d="100"/>
        </p:scale>
        <p:origin x="-1200" y="-7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90" d="100"/>
        <a:sy n="90" d="100"/>
      </p:scale>
      <p:origin x="0" y="0"/>
    </p:cViewPr>
  </p:sorter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l" defTabSz="990600">
              <a:defRPr sz="1300"/>
            </a:lvl1pPr>
          </a:lstStyle>
          <a:p>
            <a:pPr>
              <a:defRPr/>
            </a:pPr>
            <a:endParaRPr lang="de-CH" dirty="0"/>
          </a:p>
        </p:txBody>
      </p:sp>
      <p:sp>
        <p:nvSpPr>
          <p:cNvPr id="27651" name="Rectangle 3"/>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defTabSz="990600">
              <a:defRPr sz="1300"/>
            </a:lvl1pPr>
          </a:lstStyle>
          <a:p>
            <a:pPr>
              <a:defRPr/>
            </a:pPr>
            <a:endParaRPr lang="de-CH" dirty="0"/>
          </a:p>
        </p:txBody>
      </p:sp>
      <p:sp>
        <p:nvSpPr>
          <p:cNvPr id="5124" name="Rectangle 4"/>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3" name="Rectangle 5"/>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de-CH" noProof="0" smtClean="0"/>
              <a:t>Click to edit Master text styles</a:t>
            </a:r>
          </a:p>
          <a:p>
            <a:pPr lvl="1"/>
            <a:r>
              <a:rPr lang="de-CH" noProof="0" smtClean="0"/>
              <a:t>Second level</a:t>
            </a:r>
          </a:p>
          <a:p>
            <a:pPr lvl="2"/>
            <a:r>
              <a:rPr lang="de-CH" noProof="0" smtClean="0"/>
              <a:t>Third level</a:t>
            </a:r>
          </a:p>
          <a:p>
            <a:pPr lvl="3"/>
            <a:r>
              <a:rPr lang="de-CH" noProof="0" smtClean="0"/>
              <a:t>Fourth level</a:t>
            </a:r>
          </a:p>
          <a:p>
            <a:pPr lvl="4"/>
            <a:r>
              <a:rPr lang="de-CH" noProof="0" smtClean="0"/>
              <a:t>Fifth level</a:t>
            </a:r>
          </a:p>
        </p:txBody>
      </p:sp>
      <p:sp>
        <p:nvSpPr>
          <p:cNvPr id="27654" name="Rectangle 6"/>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l" defTabSz="990600">
              <a:defRPr sz="1300"/>
            </a:lvl1pPr>
          </a:lstStyle>
          <a:p>
            <a:pPr>
              <a:defRPr/>
            </a:pPr>
            <a:endParaRPr lang="de-CH" dirty="0"/>
          </a:p>
        </p:txBody>
      </p:sp>
      <p:sp>
        <p:nvSpPr>
          <p:cNvPr id="27655" name="Rectangle 7"/>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defTabSz="990600">
              <a:defRPr sz="1300"/>
            </a:lvl1pPr>
          </a:lstStyle>
          <a:p>
            <a:pPr>
              <a:defRPr/>
            </a:pPr>
            <a:fld id="{ED509F59-78A6-4971-BD5B-95ECCD7FF4B0}" type="slidenum">
              <a:rPr lang="de-CH"/>
              <a:pPr>
                <a:defRPr/>
              </a:pPr>
              <a:t>‹#›</a:t>
            </a:fld>
            <a:endParaRPr lang="de-CH" dirty="0"/>
          </a:p>
        </p:txBody>
      </p:sp>
    </p:spTree>
    <p:extLst>
      <p:ext uri="{BB962C8B-B14F-4D97-AF65-F5344CB8AC3E}">
        <p14:creationId xmlns:p14="http://schemas.microsoft.com/office/powerpoint/2010/main" val="354620371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2188" y="768350"/>
            <a:ext cx="5114925" cy="3836988"/>
          </a:xfrm>
        </p:spPr>
      </p:sp>
      <p:sp>
        <p:nvSpPr>
          <p:cNvPr id="3" name="Notes Placeholder 2"/>
          <p:cNvSpPr>
            <a:spLocks noGrp="1"/>
          </p:cNvSpPr>
          <p:nvPr>
            <p:ph type="body" idx="1"/>
          </p:nvPr>
        </p:nvSpPr>
        <p:spPr/>
        <p:txBody>
          <a:bodyPr/>
          <a:lstStyle/>
          <a:p>
            <a:endParaRPr lang="de-CH" dirty="0"/>
          </a:p>
        </p:txBody>
      </p:sp>
      <p:sp>
        <p:nvSpPr>
          <p:cNvPr id="4" name="Slide Number Placeholder 3"/>
          <p:cNvSpPr>
            <a:spLocks noGrp="1"/>
          </p:cNvSpPr>
          <p:nvPr>
            <p:ph type="sldNum" sz="quarter" idx="10"/>
          </p:nvPr>
        </p:nvSpPr>
        <p:spPr/>
        <p:txBody>
          <a:bodyPr/>
          <a:lstStyle/>
          <a:p>
            <a:pPr>
              <a:defRPr/>
            </a:pPr>
            <a:fld id="{ED509F59-78A6-4971-BD5B-95ECCD7FF4B0}" type="slidenum">
              <a:rPr lang="de-CH" smtClean="0"/>
              <a:pPr>
                <a:defRPr/>
              </a:pPr>
              <a:t>2</a:t>
            </a:fld>
            <a:endParaRPr lang="de-CH" dirty="0"/>
          </a:p>
        </p:txBody>
      </p:sp>
    </p:spTree>
    <p:extLst>
      <p:ext uri="{BB962C8B-B14F-4D97-AF65-F5344CB8AC3E}">
        <p14:creationId xmlns:p14="http://schemas.microsoft.com/office/powerpoint/2010/main" val="979990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2188" y="768350"/>
            <a:ext cx="5114925" cy="3836988"/>
          </a:xfrm>
        </p:spPr>
      </p:sp>
      <p:sp>
        <p:nvSpPr>
          <p:cNvPr id="3" name="Notes Placeholder 2"/>
          <p:cNvSpPr>
            <a:spLocks noGrp="1"/>
          </p:cNvSpPr>
          <p:nvPr>
            <p:ph type="body" idx="1"/>
          </p:nvPr>
        </p:nvSpPr>
        <p:spPr/>
        <p:txBody>
          <a:bodyPr/>
          <a:lstStyle/>
          <a:p>
            <a:endParaRPr lang="de-CH" dirty="0"/>
          </a:p>
        </p:txBody>
      </p:sp>
      <p:sp>
        <p:nvSpPr>
          <p:cNvPr id="4" name="Slide Number Placeholder 3"/>
          <p:cNvSpPr>
            <a:spLocks noGrp="1"/>
          </p:cNvSpPr>
          <p:nvPr>
            <p:ph type="sldNum" sz="quarter" idx="10"/>
          </p:nvPr>
        </p:nvSpPr>
        <p:spPr/>
        <p:txBody>
          <a:bodyPr/>
          <a:lstStyle/>
          <a:p>
            <a:pPr>
              <a:defRPr/>
            </a:pPr>
            <a:fld id="{ED509F59-78A6-4971-BD5B-95ECCD7FF4B0}" type="slidenum">
              <a:rPr lang="de-CH" smtClean="0"/>
              <a:pPr>
                <a:defRPr/>
              </a:pPr>
              <a:t>7</a:t>
            </a:fld>
            <a:endParaRPr lang="de-CH" dirty="0"/>
          </a:p>
        </p:txBody>
      </p:sp>
    </p:spTree>
    <p:extLst>
      <p:ext uri="{BB962C8B-B14F-4D97-AF65-F5344CB8AC3E}">
        <p14:creationId xmlns:p14="http://schemas.microsoft.com/office/powerpoint/2010/main" val="9106317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2188" y="768350"/>
            <a:ext cx="5114925" cy="3836988"/>
          </a:xfrm>
        </p:spPr>
      </p:sp>
      <p:sp>
        <p:nvSpPr>
          <p:cNvPr id="3" name="Notes Placeholder 2"/>
          <p:cNvSpPr>
            <a:spLocks noGrp="1"/>
          </p:cNvSpPr>
          <p:nvPr>
            <p:ph type="body" idx="1"/>
          </p:nvPr>
        </p:nvSpPr>
        <p:spPr/>
        <p:txBody>
          <a:bodyPr/>
          <a:lstStyle/>
          <a:p>
            <a:endParaRPr lang="de-CH" dirty="0"/>
          </a:p>
        </p:txBody>
      </p:sp>
      <p:sp>
        <p:nvSpPr>
          <p:cNvPr id="4" name="Slide Number Placeholder 3"/>
          <p:cNvSpPr>
            <a:spLocks noGrp="1"/>
          </p:cNvSpPr>
          <p:nvPr>
            <p:ph type="sldNum" sz="quarter" idx="10"/>
          </p:nvPr>
        </p:nvSpPr>
        <p:spPr/>
        <p:txBody>
          <a:bodyPr/>
          <a:lstStyle/>
          <a:p>
            <a:pPr>
              <a:defRPr/>
            </a:pPr>
            <a:fld id="{ED509F59-78A6-4971-BD5B-95ECCD7FF4B0}" type="slidenum">
              <a:rPr lang="de-CH" smtClean="0"/>
              <a:pPr>
                <a:defRPr/>
              </a:pPr>
              <a:t>8</a:t>
            </a:fld>
            <a:endParaRPr lang="de-CH" dirty="0"/>
          </a:p>
        </p:txBody>
      </p:sp>
    </p:spTree>
    <p:extLst>
      <p:ext uri="{BB962C8B-B14F-4D97-AF65-F5344CB8AC3E}">
        <p14:creationId xmlns:p14="http://schemas.microsoft.com/office/powerpoint/2010/main" val="40501876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3"/>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626605" y="810768"/>
            <a:ext cx="8553907" cy="6047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2"/>
          <p:cNvSpPr>
            <a:spLocks noChangeArrowheads="1"/>
          </p:cNvSpPr>
          <p:nvPr/>
        </p:nvSpPr>
        <p:spPr bwMode="auto">
          <a:xfrm>
            <a:off x="4427538" y="1700213"/>
            <a:ext cx="4114800" cy="4343400"/>
          </a:xfrm>
          <a:prstGeom prst="rect">
            <a:avLst/>
          </a:prstGeom>
          <a:noFill/>
          <a:ln w="9525">
            <a:noFill/>
            <a:miter lim="800000"/>
            <a:headEnd/>
            <a:tailEnd/>
          </a:ln>
          <a:effectLst/>
        </p:spPr>
        <p:txBody>
          <a:bodyPr/>
          <a:lstStyle/>
          <a:p>
            <a:pPr algn="l">
              <a:spcBef>
                <a:spcPct val="20000"/>
              </a:spcBef>
              <a:buFontTx/>
              <a:buChar char="•"/>
              <a:defRPr/>
            </a:pPr>
            <a:endParaRPr lang="en-US" sz="2400" dirty="0"/>
          </a:p>
        </p:txBody>
      </p:sp>
      <p:pic>
        <p:nvPicPr>
          <p:cNvPr id="6" name="Picture 10"/>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67544" y="236537"/>
            <a:ext cx="2336800" cy="670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8" name="Rectangle 2"/>
          <p:cNvSpPr>
            <a:spLocks noGrp="1" noChangeArrowheads="1"/>
          </p:cNvSpPr>
          <p:nvPr>
            <p:ph type="ctrTitle"/>
          </p:nvPr>
        </p:nvSpPr>
        <p:spPr>
          <a:xfrm>
            <a:off x="381000" y="1520825"/>
            <a:ext cx="8277225" cy="468313"/>
          </a:xfrm>
        </p:spPr>
        <p:txBody>
          <a:bodyPr/>
          <a:lstStyle>
            <a:lvl1pPr>
              <a:defRPr>
                <a:solidFill>
                  <a:srgbClr val="29529B"/>
                </a:solidFill>
              </a:defRPr>
            </a:lvl1pPr>
          </a:lstStyle>
          <a:p>
            <a:r>
              <a:rPr lang="en-US" noProof="0" dirty="0" smtClean="0"/>
              <a:t>Click to edit Master title style</a:t>
            </a:r>
            <a:endParaRPr lang="en-US" noProof="0" dirty="0"/>
          </a:p>
        </p:txBody>
      </p:sp>
      <p:sp>
        <p:nvSpPr>
          <p:cNvPr id="29699" name="Rectangle 3"/>
          <p:cNvSpPr>
            <a:spLocks noGrp="1" noChangeArrowheads="1"/>
          </p:cNvSpPr>
          <p:nvPr>
            <p:ph type="subTitle" idx="1"/>
          </p:nvPr>
        </p:nvSpPr>
        <p:spPr>
          <a:xfrm>
            <a:off x="381000" y="1957388"/>
            <a:ext cx="8277225" cy="468312"/>
          </a:xfrm>
        </p:spPr>
        <p:txBody>
          <a:bodyPr lIns="0" tIns="0" rIns="0" bIns="0"/>
          <a:lstStyle>
            <a:lvl1pPr marL="0" indent="0">
              <a:lnSpc>
                <a:spcPts val="3400"/>
              </a:lnSpc>
              <a:buFontTx/>
              <a:buNone/>
              <a:defRPr sz="3200">
                <a:solidFill>
                  <a:srgbClr val="808080"/>
                </a:solidFill>
              </a:defRPr>
            </a:lvl1pPr>
          </a:lstStyle>
          <a:p>
            <a:r>
              <a:rPr lang="en-US" noProof="0" smtClean="0"/>
              <a:t>Click to edit Master subtitle style</a:t>
            </a:r>
            <a:endParaRPr lang="en-US" noProof="0"/>
          </a:p>
        </p:txBody>
      </p:sp>
    </p:spTree>
    <p:extLst>
      <p:ext uri="{BB962C8B-B14F-4D97-AF65-F5344CB8AC3E}">
        <p14:creationId xmlns:p14="http://schemas.microsoft.com/office/powerpoint/2010/main" val="3105405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solidFill>
                  <a:srgbClr val="29529B"/>
                </a:solidFill>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Rectangle 6"/>
          <p:cNvSpPr>
            <a:spLocks noGrp="1" noChangeArrowheads="1"/>
          </p:cNvSpPr>
          <p:nvPr>
            <p:ph type="sldNum" sz="quarter" idx="10"/>
          </p:nvPr>
        </p:nvSpPr>
        <p:spPr>
          <a:ln/>
        </p:spPr>
        <p:txBody>
          <a:bodyPr/>
          <a:lstStyle>
            <a:lvl1pPr>
              <a:defRPr/>
            </a:lvl1pPr>
          </a:lstStyle>
          <a:p>
            <a:pPr>
              <a:defRPr/>
            </a:pPr>
            <a:fld id="{CEE1FCD9-F150-4C70-8317-A7D77C774BAC}" type="slidenum">
              <a:rPr lang="de-CH"/>
              <a:pPr>
                <a:defRPr/>
              </a:pPr>
              <a:t>‹#›</a:t>
            </a:fld>
            <a:endParaRPr lang="de-CH" dirty="0"/>
          </a:p>
        </p:txBody>
      </p:sp>
    </p:spTree>
    <p:extLst>
      <p:ext uri="{BB962C8B-B14F-4D97-AF65-F5344CB8AC3E}">
        <p14:creationId xmlns:p14="http://schemas.microsoft.com/office/powerpoint/2010/main" val="1697480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pPr>
              <a:defRPr/>
            </a:pPr>
            <a:fld id="{52F8C0B6-490A-45D1-90E0-CB572435F03E}" type="slidenum">
              <a:rPr lang="de-CH"/>
              <a:pPr>
                <a:defRPr/>
              </a:pPr>
              <a:t>‹#›</a:t>
            </a:fld>
            <a:endParaRPr lang="de-CH" dirty="0"/>
          </a:p>
        </p:txBody>
      </p:sp>
    </p:spTree>
    <p:extLst>
      <p:ext uri="{BB962C8B-B14F-4D97-AF65-F5344CB8AC3E}">
        <p14:creationId xmlns:p14="http://schemas.microsoft.com/office/powerpoint/2010/main" val="2467196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520825"/>
            <a:ext cx="4062413" cy="4678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595813" y="1520825"/>
            <a:ext cx="4062412" cy="4678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6"/>
          <p:cNvSpPr>
            <a:spLocks noGrp="1" noChangeArrowheads="1"/>
          </p:cNvSpPr>
          <p:nvPr>
            <p:ph type="sldNum" sz="quarter" idx="10"/>
          </p:nvPr>
        </p:nvSpPr>
        <p:spPr>
          <a:ln/>
        </p:spPr>
        <p:txBody>
          <a:bodyPr/>
          <a:lstStyle>
            <a:lvl1pPr>
              <a:defRPr/>
            </a:lvl1pPr>
          </a:lstStyle>
          <a:p>
            <a:pPr>
              <a:defRPr/>
            </a:pPr>
            <a:fld id="{9C87B5B0-B7CC-4576-8B3E-27A700618F80}" type="slidenum">
              <a:rPr lang="de-CH"/>
              <a:pPr>
                <a:defRPr/>
              </a:pPr>
              <a:t>‹#›</a:t>
            </a:fld>
            <a:endParaRPr lang="de-CH" dirty="0"/>
          </a:p>
        </p:txBody>
      </p:sp>
    </p:spTree>
    <p:extLst>
      <p:ext uri="{BB962C8B-B14F-4D97-AF65-F5344CB8AC3E}">
        <p14:creationId xmlns:p14="http://schemas.microsoft.com/office/powerpoint/2010/main" val="2408975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6"/>
          <p:cNvSpPr>
            <a:spLocks noGrp="1" noChangeArrowheads="1"/>
          </p:cNvSpPr>
          <p:nvPr>
            <p:ph type="sldNum" sz="quarter" idx="10"/>
          </p:nvPr>
        </p:nvSpPr>
        <p:spPr>
          <a:ln/>
        </p:spPr>
        <p:txBody>
          <a:bodyPr/>
          <a:lstStyle>
            <a:lvl1pPr>
              <a:defRPr/>
            </a:lvl1pPr>
          </a:lstStyle>
          <a:p>
            <a:pPr>
              <a:defRPr/>
            </a:pPr>
            <a:fld id="{59146AC0-0AD1-4BA6-8D8F-2F807E2CB51E}" type="slidenum">
              <a:rPr lang="de-CH"/>
              <a:pPr>
                <a:defRPr/>
              </a:pPr>
              <a:t>‹#›</a:t>
            </a:fld>
            <a:endParaRPr lang="de-CH" dirty="0"/>
          </a:p>
        </p:txBody>
      </p:sp>
    </p:spTree>
    <p:extLst>
      <p:ext uri="{BB962C8B-B14F-4D97-AF65-F5344CB8AC3E}">
        <p14:creationId xmlns:p14="http://schemas.microsoft.com/office/powerpoint/2010/main" val="15862902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6"/>
          <p:cNvSpPr>
            <a:spLocks noGrp="1" noChangeArrowheads="1"/>
          </p:cNvSpPr>
          <p:nvPr>
            <p:ph type="sldNum" sz="quarter" idx="10"/>
          </p:nvPr>
        </p:nvSpPr>
        <p:spPr>
          <a:ln/>
        </p:spPr>
        <p:txBody>
          <a:bodyPr/>
          <a:lstStyle>
            <a:lvl1pPr>
              <a:defRPr/>
            </a:lvl1pPr>
          </a:lstStyle>
          <a:p>
            <a:pPr>
              <a:defRPr/>
            </a:pPr>
            <a:fld id="{477863AC-F0E1-4D70-862A-A56453D51D43}" type="slidenum">
              <a:rPr lang="de-CH"/>
              <a:pPr>
                <a:defRPr/>
              </a:pPr>
              <a:t>‹#›</a:t>
            </a:fld>
            <a:endParaRPr lang="de-CH" dirty="0"/>
          </a:p>
        </p:txBody>
      </p:sp>
    </p:spTree>
    <p:extLst>
      <p:ext uri="{BB962C8B-B14F-4D97-AF65-F5344CB8AC3E}">
        <p14:creationId xmlns:p14="http://schemas.microsoft.com/office/powerpoint/2010/main" val="3649772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22C64AFE-ECDE-49DC-85BF-24D0B5A53D8B}" type="slidenum">
              <a:rPr lang="de-CH"/>
              <a:pPr>
                <a:defRPr/>
              </a:pPr>
              <a:t>‹#›</a:t>
            </a:fld>
            <a:endParaRPr lang="de-CH" dirty="0"/>
          </a:p>
        </p:txBody>
      </p:sp>
    </p:spTree>
    <p:extLst>
      <p:ext uri="{BB962C8B-B14F-4D97-AF65-F5344CB8AC3E}">
        <p14:creationId xmlns:p14="http://schemas.microsoft.com/office/powerpoint/2010/main" val="3009482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2D88FB7B-18DA-411C-8B44-DBEA626ACDD5}" type="slidenum">
              <a:rPr lang="de-CH"/>
              <a:pPr>
                <a:defRPr/>
              </a:pPr>
              <a:t>‹#›</a:t>
            </a:fld>
            <a:endParaRPr lang="de-CH" dirty="0"/>
          </a:p>
        </p:txBody>
      </p:sp>
    </p:spTree>
    <p:extLst>
      <p:ext uri="{BB962C8B-B14F-4D97-AF65-F5344CB8AC3E}">
        <p14:creationId xmlns:p14="http://schemas.microsoft.com/office/powerpoint/2010/main" val="3608877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8DB4FB8C-C21C-4519-BEB0-AAB35F0EB81F}" type="slidenum">
              <a:rPr lang="de-CH"/>
              <a:pPr>
                <a:defRPr/>
              </a:pPr>
              <a:t>‹#›</a:t>
            </a:fld>
            <a:endParaRPr lang="de-CH" dirty="0"/>
          </a:p>
        </p:txBody>
      </p:sp>
    </p:spTree>
    <p:extLst>
      <p:ext uri="{BB962C8B-B14F-4D97-AF65-F5344CB8AC3E}">
        <p14:creationId xmlns:p14="http://schemas.microsoft.com/office/powerpoint/2010/main" val="3691067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pPr>
              <a:defRPr/>
            </a:pPr>
            <a:fld id="{07234F01-B942-4A44-BF1D-CFAC815E6342}" type="slidenum">
              <a:rPr lang="de-CH"/>
              <a:pPr>
                <a:defRPr/>
              </a:pPr>
              <a:t>‹#›</a:t>
            </a:fld>
            <a:endParaRPr lang="de-CH" dirty="0"/>
          </a:p>
        </p:txBody>
      </p:sp>
    </p:spTree>
    <p:extLst>
      <p:ext uri="{BB962C8B-B14F-4D97-AF65-F5344CB8AC3E}">
        <p14:creationId xmlns:p14="http://schemas.microsoft.com/office/powerpoint/2010/main" val="890405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9713" y="381000"/>
            <a:ext cx="2068512" cy="581818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1000" y="381000"/>
            <a:ext cx="6056313" cy="581818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pPr>
              <a:defRPr/>
            </a:pPr>
            <a:fld id="{B304AC82-843E-4A0B-AEA7-24080EA46E56}" type="slidenum">
              <a:rPr lang="de-CH"/>
              <a:pPr>
                <a:defRPr/>
              </a:pPr>
              <a:t>‹#›</a:t>
            </a:fld>
            <a:endParaRPr lang="de-CH" dirty="0"/>
          </a:p>
        </p:txBody>
      </p:sp>
    </p:spTree>
    <p:extLst>
      <p:ext uri="{BB962C8B-B14F-4D97-AF65-F5344CB8AC3E}">
        <p14:creationId xmlns:p14="http://schemas.microsoft.com/office/powerpoint/2010/main" val="937360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381000"/>
            <a:ext cx="82772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dirty="0" smtClean="0"/>
              <a:t>Click to edit Master title style</a:t>
            </a:r>
            <a:endParaRPr lang="de-CH" dirty="0" smtClean="0"/>
          </a:p>
        </p:txBody>
      </p:sp>
      <p:sp>
        <p:nvSpPr>
          <p:cNvPr id="14342" name="Rectangle 6"/>
          <p:cNvSpPr>
            <a:spLocks noGrp="1" noChangeArrowheads="1"/>
          </p:cNvSpPr>
          <p:nvPr>
            <p:ph type="sldNum" sz="quarter" idx="4"/>
          </p:nvPr>
        </p:nvSpPr>
        <p:spPr bwMode="auto">
          <a:xfrm>
            <a:off x="381000" y="6602413"/>
            <a:ext cx="2133600" cy="215900"/>
          </a:xfrm>
          <a:prstGeom prst="rect">
            <a:avLst/>
          </a:prstGeom>
          <a:noFill/>
          <a:ln w="9525">
            <a:noFill/>
            <a:miter lim="800000"/>
            <a:headEnd/>
            <a:tailEnd/>
          </a:ln>
          <a:effectLst/>
        </p:spPr>
        <p:txBody>
          <a:bodyPr vert="horz" wrap="square" lIns="0" tIns="0" rIns="91440" bIns="0" numCol="1" anchor="t" anchorCtr="0" compatLnSpc="1">
            <a:prstTxWarp prst="textNoShape">
              <a:avLst/>
            </a:prstTxWarp>
          </a:bodyPr>
          <a:lstStyle>
            <a:lvl1pPr algn="l">
              <a:defRPr sz="800"/>
            </a:lvl1pPr>
          </a:lstStyle>
          <a:p>
            <a:pPr>
              <a:defRPr/>
            </a:pPr>
            <a:fld id="{16DAB0E1-13E3-4865-BAED-ABD5235B796D}" type="slidenum">
              <a:rPr lang="de-CH"/>
              <a:pPr>
                <a:defRPr/>
              </a:pPr>
              <a:t>‹#›</a:t>
            </a:fld>
            <a:endParaRPr lang="de-CH" dirty="0"/>
          </a:p>
        </p:txBody>
      </p:sp>
      <p:sp>
        <p:nvSpPr>
          <p:cNvPr id="1028" name="Rectangle 13"/>
          <p:cNvSpPr>
            <a:spLocks noGrp="1" noChangeArrowheads="1"/>
          </p:cNvSpPr>
          <p:nvPr>
            <p:ph type="body" idx="1"/>
          </p:nvPr>
        </p:nvSpPr>
        <p:spPr bwMode="auto">
          <a:xfrm>
            <a:off x="381000" y="1520825"/>
            <a:ext cx="8277225" cy="467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Textmasterformate durch Klicken bearbeiten</a:t>
            </a:r>
          </a:p>
          <a:p>
            <a:pPr lvl="1"/>
            <a:r>
              <a:rPr lang="en-US" smtClean="0"/>
              <a:t>2nd level</a:t>
            </a:r>
          </a:p>
          <a:p>
            <a:pPr lvl="2"/>
            <a:r>
              <a:rPr lang="en-US" smtClean="0"/>
              <a:t>3rd level</a:t>
            </a:r>
          </a:p>
          <a:p>
            <a:pPr lvl="3"/>
            <a:r>
              <a:rPr lang="en-US" smtClean="0"/>
              <a:t>4th level</a:t>
            </a:r>
          </a:p>
          <a:p>
            <a:pPr lvl="4"/>
            <a:r>
              <a:rPr lang="en-US" smtClean="0"/>
              <a:t>5th level</a:t>
            </a:r>
          </a:p>
        </p:txBody>
      </p:sp>
      <p:pic>
        <p:nvPicPr>
          <p:cNvPr id="1029" name="Picture 8"/>
          <p:cNvPicPr>
            <a:picLocks noChangeAspect="1" noChangeArrowheads="1"/>
          </p:cNvPicPr>
          <p:nvPr/>
        </p:nvPicPr>
        <p:blipFill>
          <a:blip r:embed="rId13">
            <a:extLst>
              <a:ext uri="{28A0092B-C50C-407E-A947-70E740481C1C}">
                <a14:useLocalDpi xmlns:a14="http://schemas.microsoft.com/office/drawing/2010/main" val="0"/>
              </a:ext>
            </a:extLst>
          </a:blip>
          <a:stretch>
            <a:fillRect/>
          </a:stretch>
        </p:blipFill>
        <p:spPr bwMode="auto">
          <a:xfrm>
            <a:off x="7236296" y="6309320"/>
            <a:ext cx="14605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13"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hf hdr="0" ftr="0" dt="0"/>
  <p:txStyles>
    <p:titleStyle>
      <a:lvl1pPr algn="l" rtl="0" eaLnBrk="1" fontAlgn="base" hangingPunct="1">
        <a:lnSpc>
          <a:spcPct val="90000"/>
        </a:lnSpc>
        <a:spcBef>
          <a:spcPct val="0"/>
        </a:spcBef>
        <a:spcAft>
          <a:spcPct val="0"/>
        </a:spcAft>
        <a:defRPr sz="3200" b="1">
          <a:solidFill>
            <a:srgbClr val="29529B"/>
          </a:solidFill>
          <a:latin typeface="+mj-lt"/>
          <a:ea typeface="+mj-ea"/>
          <a:cs typeface="+mj-cs"/>
        </a:defRPr>
      </a:lvl1pPr>
      <a:lvl2pPr algn="l" rtl="0" eaLnBrk="1" fontAlgn="base" hangingPunct="1">
        <a:lnSpc>
          <a:spcPct val="90000"/>
        </a:lnSpc>
        <a:spcBef>
          <a:spcPct val="0"/>
        </a:spcBef>
        <a:spcAft>
          <a:spcPct val="0"/>
        </a:spcAft>
        <a:defRPr sz="3200" b="1">
          <a:solidFill>
            <a:srgbClr val="29529B"/>
          </a:solidFill>
          <a:latin typeface="Arial" charset="0"/>
        </a:defRPr>
      </a:lvl2pPr>
      <a:lvl3pPr algn="l" rtl="0" eaLnBrk="1" fontAlgn="base" hangingPunct="1">
        <a:lnSpc>
          <a:spcPct val="90000"/>
        </a:lnSpc>
        <a:spcBef>
          <a:spcPct val="0"/>
        </a:spcBef>
        <a:spcAft>
          <a:spcPct val="0"/>
        </a:spcAft>
        <a:defRPr sz="3200" b="1">
          <a:solidFill>
            <a:srgbClr val="29529B"/>
          </a:solidFill>
          <a:latin typeface="Arial" charset="0"/>
        </a:defRPr>
      </a:lvl3pPr>
      <a:lvl4pPr algn="l" rtl="0" eaLnBrk="1" fontAlgn="base" hangingPunct="1">
        <a:lnSpc>
          <a:spcPct val="90000"/>
        </a:lnSpc>
        <a:spcBef>
          <a:spcPct val="0"/>
        </a:spcBef>
        <a:spcAft>
          <a:spcPct val="0"/>
        </a:spcAft>
        <a:defRPr sz="3200" b="1">
          <a:solidFill>
            <a:srgbClr val="29529B"/>
          </a:solidFill>
          <a:latin typeface="Arial" charset="0"/>
        </a:defRPr>
      </a:lvl4pPr>
      <a:lvl5pPr algn="l" rtl="0" eaLnBrk="1" fontAlgn="base" hangingPunct="1">
        <a:lnSpc>
          <a:spcPct val="90000"/>
        </a:lnSpc>
        <a:spcBef>
          <a:spcPct val="0"/>
        </a:spcBef>
        <a:spcAft>
          <a:spcPct val="0"/>
        </a:spcAft>
        <a:defRPr sz="3200" b="1">
          <a:solidFill>
            <a:srgbClr val="29529B"/>
          </a:solidFill>
          <a:latin typeface="Arial" charset="0"/>
        </a:defRPr>
      </a:lvl5pPr>
      <a:lvl6pPr marL="457200" algn="l" rtl="0" eaLnBrk="1" fontAlgn="base" hangingPunct="1">
        <a:lnSpc>
          <a:spcPct val="90000"/>
        </a:lnSpc>
        <a:spcBef>
          <a:spcPct val="0"/>
        </a:spcBef>
        <a:spcAft>
          <a:spcPct val="0"/>
        </a:spcAft>
        <a:defRPr sz="3200" b="1">
          <a:solidFill>
            <a:srgbClr val="0E2960"/>
          </a:solidFill>
          <a:latin typeface="Arial" charset="0"/>
        </a:defRPr>
      </a:lvl6pPr>
      <a:lvl7pPr marL="914400" algn="l" rtl="0" eaLnBrk="1" fontAlgn="base" hangingPunct="1">
        <a:lnSpc>
          <a:spcPct val="90000"/>
        </a:lnSpc>
        <a:spcBef>
          <a:spcPct val="0"/>
        </a:spcBef>
        <a:spcAft>
          <a:spcPct val="0"/>
        </a:spcAft>
        <a:defRPr sz="3200" b="1">
          <a:solidFill>
            <a:srgbClr val="0E2960"/>
          </a:solidFill>
          <a:latin typeface="Arial" charset="0"/>
        </a:defRPr>
      </a:lvl7pPr>
      <a:lvl8pPr marL="1371600" algn="l" rtl="0" eaLnBrk="1" fontAlgn="base" hangingPunct="1">
        <a:lnSpc>
          <a:spcPct val="90000"/>
        </a:lnSpc>
        <a:spcBef>
          <a:spcPct val="0"/>
        </a:spcBef>
        <a:spcAft>
          <a:spcPct val="0"/>
        </a:spcAft>
        <a:defRPr sz="3200" b="1">
          <a:solidFill>
            <a:srgbClr val="0E2960"/>
          </a:solidFill>
          <a:latin typeface="Arial" charset="0"/>
        </a:defRPr>
      </a:lvl8pPr>
      <a:lvl9pPr marL="1828800" algn="l" rtl="0" eaLnBrk="1" fontAlgn="base" hangingPunct="1">
        <a:lnSpc>
          <a:spcPct val="90000"/>
        </a:lnSpc>
        <a:spcBef>
          <a:spcPct val="0"/>
        </a:spcBef>
        <a:spcAft>
          <a:spcPct val="0"/>
        </a:spcAft>
        <a:defRPr sz="3200" b="1">
          <a:solidFill>
            <a:srgbClr val="0E2960"/>
          </a:solidFill>
          <a:latin typeface="Arial" charset="0"/>
        </a:defRPr>
      </a:lvl9pPr>
    </p:titleStyle>
    <p:bodyStyle>
      <a:lvl1pPr marL="533400" indent="-533400" algn="l" rtl="0" eaLnBrk="1" fontAlgn="base" hangingPunct="1">
        <a:spcBef>
          <a:spcPct val="20000"/>
        </a:spcBef>
        <a:spcAft>
          <a:spcPct val="0"/>
        </a:spcAft>
        <a:buChar char="•"/>
        <a:defRPr sz="2800">
          <a:solidFill>
            <a:schemeClr val="tx1"/>
          </a:solidFill>
          <a:latin typeface="+mn-lt"/>
          <a:ea typeface="+mn-ea"/>
          <a:cs typeface="+mn-cs"/>
        </a:defRPr>
      </a:lvl1pPr>
      <a:lvl2pPr marL="952500" indent="-428625" algn="l" rtl="0" eaLnBrk="1" fontAlgn="base" hangingPunct="1">
        <a:spcBef>
          <a:spcPct val="20000"/>
        </a:spcBef>
        <a:spcAft>
          <a:spcPct val="0"/>
        </a:spcAft>
        <a:buChar char="•"/>
        <a:defRPr sz="2600">
          <a:solidFill>
            <a:schemeClr val="tx1"/>
          </a:solidFill>
          <a:latin typeface="+mn-lt"/>
        </a:defRPr>
      </a:lvl2pPr>
      <a:lvl3pPr marL="1371600" indent="-409575" algn="l" rtl="0" eaLnBrk="1" fontAlgn="base" hangingPunct="1">
        <a:spcBef>
          <a:spcPct val="20000"/>
        </a:spcBef>
        <a:spcAft>
          <a:spcPct val="0"/>
        </a:spcAft>
        <a:buChar char="•"/>
        <a:defRPr sz="2400">
          <a:solidFill>
            <a:schemeClr val="tx1"/>
          </a:solidFill>
          <a:latin typeface="+mn-lt"/>
        </a:defRPr>
      </a:lvl3pPr>
      <a:lvl4pPr marL="1752600" indent="-361950" algn="l" rtl="0" eaLnBrk="1" fontAlgn="base" hangingPunct="1">
        <a:spcBef>
          <a:spcPct val="20000"/>
        </a:spcBef>
        <a:spcAft>
          <a:spcPct val="0"/>
        </a:spcAft>
        <a:buChar char="•"/>
        <a:defRPr sz="2000">
          <a:solidFill>
            <a:schemeClr val="tx1"/>
          </a:solidFill>
          <a:latin typeface="+mn-lt"/>
        </a:defRPr>
      </a:lvl4pPr>
      <a:lvl5pPr marL="2209800" indent="-463550" algn="l" rtl="0" eaLnBrk="1" fontAlgn="base" hangingPunct="1">
        <a:spcBef>
          <a:spcPct val="20000"/>
        </a:spcBef>
        <a:spcAft>
          <a:spcPct val="0"/>
        </a:spcAft>
        <a:buChar char="•"/>
        <a:defRPr sz="2000">
          <a:solidFill>
            <a:schemeClr val="tx1"/>
          </a:solidFill>
          <a:latin typeface="+mn-lt"/>
        </a:defRPr>
      </a:lvl5pPr>
      <a:lvl6pPr marL="2667000" indent="-381000" algn="l" rtl="0" eaLnBrk="1" fontAlgn="base" hangingPunct="1">
        <a:spcBef>
          <a:spcPct val="20000"/>
        </a:spcBef>
        <a:spcAft>
          <a:spcPct val="0"/>
        </a:spcAft>
        <a:buChar char="•"/>
        <a:defRPr sz="2000">
          <a:solidFill>
            <a:schemeClr val="tx1"/>
          </a:solidFill>
          <a:latin typeface="+mn-lt"/>
        </a:defRPr>
      </a:lvl6pPr>
      <a:lvl7pPr marL="3124200" indent="-381000" algn="l" rtl="0" eaLnBrk="1" fontAlgn="base" hangingPunct="1">
        <a:spcBef>
          <a:spcPct val="20000"/>
        </a:spcBef>
        <a:spcAft>
          <a:spcPct val="0"/>
        </a:spcAft>
        <a:buChar char="•"/>
        <a:defRPr sz="2000">
          <a:solidFill>
            <a:schemeClr val="tx1"/>
          </a:solidFill>
          <a:latin typeface="+mn-lt"/>
        </a:defRPr>
      </a:lvl7pPr>
      <a:lvl8pPr marL="3581400" indent="-381000" algn="l" rtl="0" eaLnBrk="1" fontAlgn="base" hangingPunct="1">
        <a:spcBef>
          <a:spcPct val="20000"/>
        </a:spcBef>
        <a:spcAft>
          <a:spcPct val="0"/>
        </a:spcAft>
        <a:buChar char="•"/>
        <a:defRPr sz="2000">
          <a:solidFill>
            <a:schemeClr val="tx1"/>
          </a:solidFill>
          <a:latin typeface="+mn-lt"/>
        </a:defRPr>
      </a:lvl8pPr>
      <a:lvl9pPr marL="4038600" indent="-3810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15"/>
          <p:cNvSpPr>
            <a:spLocks noGrp="1" noChangeArrowheads="1"/>
          </p:cNvSpPr>
          <p:nvPr>
            <p:ph type="subTitle" idx="1"/>
          </p:nvPr>
        </p:nvSpPr>
        <p:spPr>
          <a:xfrm>
            <a:off x="251520" y="3429000"/>
            <a:ext cx="8280920" cy="1980480"/>
          </a:xfrm>
        </p:spPr>
        <p:txBody>
          <a:bodyPr/>
          <a:lstStyle/>
          <a:p>
            <a:pPr marL="90487"/>
            <a:r>
              <a:rPr lang="fr-FR" dirty="0"/>
              <a:t>Applicable à tous les </a:t>
            </a:r>
            <a:r>
              <a:rPr lang="fr-FR" dirty="0" smtClean="0"/>
              <a:t>responsables nationaux </a:t>
            </a:r>
            <a:r>
              <a:rPr lang="fr-FR" dirty="0"/>
              <a:t>de cours et à tout le personnel administratif travaillant pour AO </a:t>
            </a:r>
            <a:r>
              <a:rPr lang="fr-FR" dirty="0" smtClean="0"/>
              <a:t>Alliance</a:t>
            </a:r>
            <a:endParaRPr lang="en-US" dirty="0" smtClean="0"/>
          </a:p>
        </p:txBody>
      </p:sp>
      <p:sp>
        <p:nvSpPr>
          <p:cNvPr id="3077" name="Rectangle 16"/>
          <p:cNvSpPr>
            <a:spLocks noGrp="1" noChangeArrowheads="1"/>
          </p:cNvSpPr>
          <p:nvPr>
            <p:ph type="ctrTitle"/>
          </p:nvPr>
        </p:nvSpPr>
        <p:spPr>
          <a:xfrm>
            <a:off x="395536" y="1556792"/>
            <a:ext cx="8280920" cy="1584176"/>
          </a:xfrm>
        </p:spPr>
        <p:txBody>
          <a:bodyPr/>
          <a:lstStyle/>
          <a:p>
            <a:pPr eaLnBrk="1" hangingPunct="1"/>
            <a:r>
              <a:rPr lang="en-US" dirty="0" smtClean="0">
                <a:solidFill>
                  <a:srgbClr val="0D3F6A"/>
                </a:solidFill>
              </a:rPr>
              <a:t>AO Alliance </a:t>
            </a:r>
            <a:br>
              <a:rPr lang="en-US" dirty="0" smtClean="0">
                <a:solidFill>
                  <a:srgbClr val="0D3F6A"/>
                </a:solidFill>
              </a:rPr>
            </a:br>
            <a:r>
              <a:rPr lang="en-US" dirty="0" smtClean="0">
                <a:solidFill>
                  <a:srgbClr val="0D3F6A"/>
                </a:solidFill>
              </a:rPr>
              <a:t>Guide </a:t>
            </a:r>
            <a:r>
              <a:rPr lang="en-US" dirty="0" err="1" smtClean="0">
                <a:solidFill>
                  <a:srgbClr val="0D3F6A"/>
                </a:solidFill>
              </a:rPr>
              <a:t>d’utilisateur</a:t>
            </a:r>
            <a:r>
              <a:rPr lang="en-US" dirty="0" smtClean="0">
                <a:solidFill>
                  <a:srgbClr val="0D3F6A"/>
                </a:solidFill>
              </a:rPr>
              <a:t> pour la submission et la </a:t>
            </a:r>
            <a:r>
              <a:rPr lang="en-US" dirty="0" err="1" smtClean="0">
                <a:solidFill>
                  <a:srgbClr val="0D3F6A"/>
                </a:solidFill>
              </a:rPr>
              <a:t>vérification</a:t>
            </a:r>
            <a:r>
              <a:rPr lang="en-US" dirty="0" smtClean="0">
                <a:solidFill>
                  <a:srgbClr val="0D3F6A"/>
                </a:solidFill>
              </a:rPr>
              <a:t> des </a:t>
            </a:r>
            <a:r>
              <a:rPr lang="en-US" dirty="0" err="1" smtClean="0">
                <a:solidFill>
                  <a:srgbClr val="0D3F6A"/>
                </a:solidFill>
              </a:rPr>
              <a:t>dépenses</a:t>
            </a:r>
            <a:r>
              <a:rPr lang="en-US" dirty="0" smtClean="0">
                <a:solidFill>
                  <a:srgbClr val="0D3F6A"/>
                </a:solidFill>
              </a:rPr>
              <a:t> </a:t>
            </a:r>
            <a:br>
              <a:rPr lang="en-US" dirty="0" smtClean="0">
                <a:solidFill>
                  <a:srgbClr val="0D3F6A"/>
                </a:solidFill>
              </a:rPr>
            </a:br>
            <a:endParaRPr lang="en-US" dirty="0" smtClean="0">
              <a:solidFill>
                <a:srgbClr val="0D3F6A"/>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332656"/>
            <a:ext cx="8277225" cy="914400"/>
          </a:xfrm>
        </p:spPr>
        <p:txBody>
          <a:bodyPr/>
          <a:lstStyle/>
          <a:p>
            <a:r>
              <a:rPr lang="fr-FR" dirty="0" smtClean="0">
                <a:solidFill>
                  <a:srgbClr val="0D3F6A"/>
                </a:solidFill>
              </a:rPr>
              <a:t>Dans le </a:t>
            </a:r>
            <a:r>
              <a:rPr lang="fr-FR" dirty="0">
                <a:solidFill>
                  <a:srgbClr val="0D3F6A"/>
                </a:solidFill>
              </a:rPr>
              <a:t>mois après la fin du cours (applicable aux </a:t>
            </a:r>
            <a:r>
              <a:rPr lang="fr-FR" dirty="0" smtClean="0">
                <a:solidFill>
                  <a:srgbClr val="0D3F6A"/>
                </a:solidFill>
              </a:rPr>
              <a:t>responsable </a:t>
            </a:r>
            <a:r>
              <a:rPr lang="fr-FR" dirty="0">
                <a:solidFill>
                  <a:srgbClr val="0D3F6A"/>
                </a:solidFill>
              </a:rPr>
              <a:t>de cours)</a:t>
            </a:r>
            <a:endParaRPr lang="en-US" dirty="0">
              <a:solidFill>
                <a:srgbClr val="0D3F6A"/>
              </a:solidFill>
            </a:endParaRPr>
          </a:p>
        </p:txBody>
      </p:sp>
      <p:sp>
        <p:nvSpPr>
          <p:cNvPr id="4" name="Slide Number Placeholder 3"/>
          <p:cNvSpPr>
            <a:spLocks noGrp="1"/>
          </p:cNvSpPr>
          <p:nvPr>
            <p:ph type="sldNum" sz="quarter" idx="10"/>
          </p:nvPr>
        </p:nvSpPr>
        <p:spPr/>
        <p:txBody>
          <a:bodyPr/>
          <a:lstStyle/>
          <a:p>
            <a:pPr>
              <a:defRPr/>
            </a:pPr>
            <a:fld id="{CEE1FCD9-F150-4C70-8317-A7D77C774BAC}" type="slidenum">
              <a:rPr lang="de-CH" smtClean="0"/>
              <a:pPr>
                <a:defRPr/>
              </a:pPr>
              <a:t>2</a:t>
            </a:fld>
            <a:endParaRPr lang="de-CH" dirty="0"/>
          </a:p>
        </p:txBody>
      </p:sp>
      <p:sp>
        <p:nvSpPr>
          <p:cNvPr id="3" name="TextBox 2"/>
          <p:cNvSpPr txBox="1"/>
          <p:nvPr/>
        </p:nvSpPr>
        <p:spPr>
          <a:xfrm>
            <a:off x="395536" y="1340768"/>
            <a:ext cx="8280920" cy="1477328"/>
          </a:xfrm>
          <a:prstGeom prst="rect">
            <a:avLst/>
          </a:prstGeom>
          <a:noFill/>
        </p:spPr>
        <p:txBody>
          <a:bodyPr wrap="square" rtlCol="0">
            <a:spAutoFit/>
          </a:bodyPr>
          <a:lstStyle/>
          <a:p>
            <a:pPr algn="l"/>
            <a:r>
              <a:rPr lang="fr-FR" sz="1800" b="1" dirty="0" smtClean="0"/>
              <a:t>Le report des </a:t>
            </a:r>
            <a:r>
              <a:rPr lang="fr-FR" sz="1800" b="1" dirty="0"/>
              <a:t>coûts </a:t>
            </a:r>
            <a:r>
              <a:rPr lang="fr-FR" sz="1800" b="1" dirty="0" smtClean="0"/>
              <a:t>(</a:t>
            </a:r>
            <a:r>
              <a:rPr lang="fr-FR" sz="1800" b="1" dirty="0"/>
              <a:t>y compris TOUTES les </a:t>
            </a:r>
            <a:r>
              <a:rPr lang="fr-FR" sz="1800" b="1" dirty="0" smtClean="0"/>
              <a:t>recettes) du </a:t>
            </a:r>
            <a:r>
              <a:rPr lang="fr-FR" sz="1800" b="1" dirty="0"/>
              <a:t>cours </a:t>
            </a:r>
            <a:r>
              <a:rPr lang="fr-FR" sz="1800" b="1" dirty="0" smtClean="0"/>
              <a:t>se fait désormais dans </a:t>
            </a:r>
            <a:r>
              <a:rPr lang="fr-FR" sz="1800" b="1" dirty="0" smtClean="0">
                <a:solidFill>
                  <a:srgbClr val="FF0000"/>
                </a:solidFill>
              </a:rPr>
              <a:t>un fichier Excel de calcul des coûts</a:t>
            </a:r>
            <a:r>
              <a:rPr lang="fr-FR" sz="1800" b="1" dirty="0" smtClean="0"/>
              <a:t> qui vous sera désormais envoyé dans le paquet de préparation du cours. </a:t>
            </a:r>
          </a:p>
          <a:p>
            <a:pPr algn="l"/>
            <a:endParaRPr lang="fr-FR" sz="1800" b="1" dirty="0"/>
          </a:p>
          <a:p>
            <a:pPr algn="l"/>
            <a:r>
              <a:rPr lang="fr-FR" sz="1800" b="1" dirty="0" smtClean="0"/>
              <a:t>Les montants sont reportés sur le fichier </a:t>
            </a:r>
            <a:r>
              <a:rPr lang="fr-FR" sz="1800" b="1" dirty="0" err="1" smtClean="0"/>
              <a:t>excel</a:t>
            </a:r>
            <a:r>
              <a:rPr lang="fr-FR" sz="1800" b="1" dirty="0" smtClean="0"/>
              <a:t> sous la devise d’origine.</a:t>
            </a:r>
            <a:endParaRPr lang="en-GB" sz="1800" b="1" dirty="0"/>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1" y="3140968"/>
            <a:ext cx="8466537" cy="29523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394440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Présentation du fichier Excel de calcul des coûts</a:t>
            </a:r>
            <a:endParaRPr lang="en-US" dirty="0"/>
          </a:p>
        </p:txBody>
      </p:sp>
      <p:sp>
        <p:nvSpPr>
          <p:cNvPr id="4" name="Slide Number Placeholder 3"/>
          <p:cNvSpPr>
            <a:spLocks noGrp="1"/>
          </p:cNvSpPr>
          <p:nvPr>
            <p:ph type="sldNum" sz="quarter" idx="10"/>
          </p:nvPr>
        </p:nvSpPr>
        <p:spPr/>
        <p:txBody>
          <a:bodyPr/>
          <a:lstStyle/>
          <a:p>
            <a:pPr>
              <a:defRPr/>
            </a:pPr>
            <a:fld id="{CEE1FCD9-F150-4C70-8317-A7D77C774BAC}" type="slidenum">
              <a:rPr lang="de-CH" smtClean="0"/>
              <a:pPr>
                <a:defRPr/>
              </a:pPr>
              <a:t>3</a:t>
            </a:fld>
            <a:endParaRPr lang="de-CH" dirty="0"/>
          </a:p>
        </p:txBody>
      </p:sp>
      <p:pic>
        <p:nvPicPr>
          <p:cNvPr id="5" name="Content Placeholder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7544" y="1340768"/>
            <a:ext cx="8277225" cy="28863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7" name="Group 66"/>
          <p:cNvGrpSpPr/>
          <p:nvPr/>
        </p:nvGrpSpPr>
        <p:grpSpPr>
          <a:xfrm>
            <a:off x="517208" y="908720"/>
            <a:ext cx="8375272" cy="5875159"/>
            <a:chOff x="517208" y="908720"/>
            <a:chExt cx="8375272" cy="5875159"/>
          </a:xfrm>
        </p:grpSpPr>
        <p:sp>
          <p:nvSpPr>
            <p:cNvPr id="22" name="TextBox 21"/>
            <p:cNvSpPr txBox="1"/>
            <p:nvPr/>
          </p:nvSpPr>
          <p:spPr>
            <a:xfrm>
              <a:off x="5940152" y="908720"/>
              <a:ext cx="2952328" cy="1169551"/>
            </a:xfrm>
            <a:prstGeom prst="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r>
                <a:rPr lang="fr-FR" b="1" dirty="0" smtClean="0"/>
                <a:t>Catégorie de budget:</a:t>
              </a:r>
            </a:p>
            <a:p>
              <a:pPr algn="l"/>
              <a:r>
                <a:rPr lang="fr-FR" dirty="0" smtClean="0"/>
                <a:t>Contient 7 Catégories:</a:t>
              </a:r>
            </a:p>
            <a:p>
              <a:pPr algn="l"/>
              <a:r>
                <a:rPr lang="fr-FR" dirty="0" smtClean="0"/>
                <a:t>1-Hôtel, 2-Nourriture, 3-Lieu, </a:t>
              </a:r>
            </a:p>
            <a:p>
              <a:pPr algn="l"/>
              <a:r>
                <a:rPr lang="fr-FR" dirty="0" smtClean="0"/>
                <a:t>4-Matériel, 5-Transport, 6-Perdiem, 7-Autre.</a:t>
              </a:r>
              <a:endParaRPr lang="en-US" dirty="0"/>
            </a:p>
          </p:txBody>
        </p:sp>
        <p:cxnSp>
          <p:nvCxnSpPr>
            <p:cNvPr id="24" name="Straight Arrow Connector 23"/>
            <p:cNvCxnSpPr/>
            <p:nvPr/>
          </p:nvCxnSpPr>
          <p:spPr bwMode="auto">
            <a:xfrm flipH="1">
              <a:off x="6444208" y="2078271"/>
              <a:ext cx="144016" cy="558641"/>
            </a:xfrm>
            <a:prstGeom prst="straightConnector1">
              <a:avLst/>
            </a:prstGeom>
            <a:ln>
              <a:solidFill>
                <a:srgbClr val="FF0000"/>
              </a:solidFill>
              <a:headEnd type="none" w="med" len="med"/>
              <a:tailEnd type="arrow"/>
            </a:ln>
          </p:spPr>
          <p:style>
            <a:lnRef idx="2">
              <a:schemeClr val="accent6"/>
            </a:lnRef>
            <a:fillRef idx="0">
              <a:schemeClr val="accent6"/>
            </a:fillRef>
            <a:effectRef idx="1">
              <a:schemeClr val="accent6"/>
            </a:effectRef>
            <a:fontRef idx="minor">
              <a:schemeClr val="tx1"/>
            </a:fontRef>
          </p:style>
        </p:cxnSp>
        <p:grpSp>
          <p:nvGrpSpPr>
            <p:cNvPr id="66" name="Group 65"/>
            <p:cNvGrpSpPr/>
            <p:nvPr/>
          </p:nvGrpSpPr>
          <p:grpSpPr>
            <a:xfrm>
              <a:off x="517208" y="995353"/>
              <a:ext cx="7007120" cy="5788526"/>
              <a:chOff x="517208" y="995353"/>
              <a:chExt cx="7007120" cy="5788526"/>
            </a:xfrm>
          </p:grpSpPr>
          <p:grpSp>
            <p:nvGrpSpPr>
              <p:cNvPr id="65" name="Group 64"/>
              <p:cNvGrpSpPr/>
              <p:nvPr/>
            </p:nvGrpSpPr>
            <p:grpSpPr>
              <a:xfrm>
                <a:off x="517208" y="3933056"/>
                <a:ext cx="3262704" cy="2850823"/>
                <a:chOff x="517208" y="3933056"/>
                <a:chExt cx="3262704" cy="2850823"/>
              </a:xfrm>
            </p:grpSpPr>
            <p:sp>
              <p:nvSpPr>
                <p:cNvPr id="6" name="TextBox 5"/>
                <p:cNvSpPr txBox="1"/>
                <p:nvPr/>
              </p:nvSpPr>
              <p:spPr>
                <a:xfrm>
                  <a:off x="517208" y="4537110"/>
                  <a:ext cx="3262704" cy="2246769"/>
                </a:xfrm>
                <a:prstGeom prst="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r>
                    <a:rPr lang="fr-FR" b="1" dirty="0" smtClean="0"/>
                    <a:t>Type de reçu</a:t>
                  </a:r>
                </a:p>
                <a:p>
                  <a:pPr algn="l"/>
                  <a:r>
                    <a:rPr lang="fr-FR" dirty="0" smtClean="0"/>
                    <a:t>Contient 3 types:</a:t>
                  </a:r>
                </a:p>
                <a:p>
                  <a:pPr marL="342900" indent="-342900" algn="l">
                    <a:buFont typeface="+mj-lt"/>
                    <a:buAutoNum type="arabicPeriod"/>
                  </a:pPr>
                  <a:r>
                    <a:rPr lang="fr-FR" dirty="0" smtClean="0"/>
                    <a:t>Reçu officiel (ex: reçu avec </a:t>
                  </a:r>
                  <a:r>
                    <a:rPr lang="fr-FR" dirty="0" err="1" smtClean="0"/>
                    <a:t>en-tete</a:t>
                  </a:r>
                  <a:r>
                    <a:rPr lang="fr-FR" dirty="0"/>
                    <a:t> </a:t>
                  </a:r>
                  <a:r>
                    <a:rPr lang="fr-FR" dirty="0" smtClean="0"/>
                    <a:t>et cachet </a:t>
                  </a:r>
                  <a:r>
                    <a:rPr lang="fr-FR" dirty="0" smtClean="0"/>
                    <a:t>officiel du </a:t>
                  </a:r>
                  <a:r>
                    <a:rPr lang="fr-FR" dirty="0" smtClean="0"/>
                    <a:t>prestataire)</a:t>
                  </a:r>
                </a:p>
                <a:p>
                  <a:pPr marL="342900" indent="-342900" algn="l">
                    <a:buFont typeface="+mj-lt"/>
                    <a:buAutoNum type="arabicPeriod"/>
                  </a:pPr>
                  <a:r>
                    <a:rPr lang="fr-FR" dirty="0" smtClean="0"/>
                    <a:t>Reçu de paiement en espèce (ex: fiche de décharge pour paiement frais de </a:t>
                  </a:r>
                  <a:r>
                    <a:rPr lang="fr-FR" dirty="0" smtClean="0"/>
                    <a:t>transport ou accusé de </a:t>
                  </a:r>
                  <a:r>
                    <a:rPr lang="fr-FR" dirty="0" err="1" smtClean="0"/>
                    <a:t>reception</a:t>
                  </a:r>
                  <a:r>
                    <a:rPr lang="fr-FR" dirty="0" smtClean="0"/>
                    <a:t> de paiement en espèce )</a:t>
                  </a:r>
                  <a:endParaRPr lang="fr-FR" dirty="0" smtClean="0"/>
                </a:p>
                <a:p>
                  <a:pPr marL="342900" indent="-342900" algn="l">
                    <a:buFont typeface="+mj-lt"/>
                    <a:buAutoNum type="arabicPeriod"/>
                  </a:pPr>
                  <a:r>
                    <a:rPr lang="fr-FR" dirty="0" smtClean="0"/>
                    <a:t>Pas de reçu (ex: </a:t>
                  </a:r>
                  <a:r>
                    <a:rPr lang="fr-FR" dirty="0" err="1" smtClean="0"/>
                    <a:t>perdiem</a:t>
                  </a:r>
                  <a:r>
                    <a:rPr lang="fr-FR" dirty="0" smtClean="0"/>
                    <a:t> responsable national)</a:t>
                  </a:r>
                  <a:endParaRPr lang="en-US" dirty="0"/>
                </a:p>
              </p:txBody>
            </p:sp>
            <p:cxnSp>
              <p:nvCxnSpPr>
                <p:cNvPr id="8" name="Straight Arrow Connector 7"/>
                <p:cNvCxnSpPr/>
                <p:nvPr/>
              </p:nvCxnSpPr>
              <p:spPr bwMode="auto">
                <a:xfrm flipV="1">
                  <a:off x="755576" y="3933056"/>
                  <a:ext cx="0" cy="604054"/>
                </a:xfrm>
                <a:prstGeom prst="straightConnector1">
                  <a:avLst/>
                </a:prstGeom>
                <a:ln>
                  <a:solidFill>
                    <a:srgbClr val="FF0000"/>
                  </a:solidFill>
                  <a:headEnd type="none" w="med" len="med"/>
                  <a:tailEnd type="arrow"/>
                </a:ln>
              </p:spPr>
              <p:style>
                <a:lnRef idx="2">
                  <a:schemeClr val="accent6"/>
                </a:lnRef>
                <a:fillRef idx="0">
                  <a:schemeClr val="accent6"/>
                </a:fillRef>
                <a:effectRef idx="1">
                  <a:schemeClr val="accent6"/>
                </a:effectRef>
                <a:fontRef idx="minor">
                  <a:schemeClr val="tx1"/>
                </a:fontRef>
              </p:style>
            </p:cxnSp>
          </p:grpSp>
          <p:grpSp>
            <p:nvGrpSpPr>
              <p:cNvPr id="62" name="Group 61"/>
              <p:cNvGrpSpPr/>
              <p:nvPr/>
            </p:nvGrpSpPr>
            <p:grpSpPr>
              <a:xfrm>
                <a:off x="1636198" y="995353"/>
                <a:ext cx="2704209" cy="1713567"/>
                <a:chOff x="1636198" y="995353"/>
                <a:chExt cx="2704209" cy="1713567"/>
              </a:xfrm>
            </p:grpSpPr>
            <p:sp>
              <p:nvSpPr>
                <p:cNvPr id="11" name="TextBox 10"/>
                <p:cNvSpPr txBox="1"/>
                <p:nvPr/>
              </p:nvSpPr>
              <p:spPr>
                <a:xfrm>
                  <a:off x="2627784" y="995353"/>
                  <a:ext cx="1712623" cy="954107"/>
                </a:xfrm>
                <a:prstGeom prst="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r>
                    <a:rPr lang="fr-FR" b="1" dirty="0" smtClean="0"/>
                    <a:t>Numéro de reçu:</a:t>
                  </a:r>
                </a:p>
                <a:p>
                  <a:pPr algn="l"/>
                  <a:r>
                    <a:rPr lang="fr-FR" dirty="0" smtClean="0"/>
                    <a:t>Numéro de référence ajouté sur le reçu</a:t>
                  </a:r>
                  <a:endParaRPr lang="en-US" dirty="0"/>
                </a:p>
              </p:txBody>
            </p:sp>
            <p:cxnSp>
              <p:nvCxnSpPr>
                <p:cNvPr id="13" name="Straight Arrow Connector 12"/>
                <p:cNvCxnSpPr/>
                <p:nvPr/>
              </p:nvCxnSpPr>
              <p:spPr bwMode="auto">
                <a:xfrm flipH="1">
                  <a:off x="1636198" y="1844824"/>
                  <a:ext cx="991586" cy="864096"/>
                </a:xfrm>
                <a:prstGeom prst="straightConnector1">
                  <a:avLst/>
                </a:prstGeom>
                <a:ln>
                  <a:solidFill>
                    <a:srgbClr val="FF0000"/>
                  </a:solidFill>
                  <a:headEnd type="none" w="med" len="med"/>
                  <a:tailEnd type="arrow"/>
                </a:ln>
              </p:spPr>
              <p:style>
                <a:lnRef idx="2">
                  <a:schemeClr val="accent6"/>
                </a:lnRef>
                <a:fillRef idx="0">
                  <a:schemeClr val="accent6"/>
                </a:fillRef>
                <a:effectRef idx="1">
                  <a:schemeClr val="accent6"/>
                </a:effectRef>
                <a:fontRef idx="minor">
                  <a:schemeClr val="tx1"/>
                </a:fontRef>
              </p:style>
            </p:cxnSp>
          </p:grpSp>
          <p:grpSp>
            <p:nvGrpSpPr>
              <p:cNvPr id="64" name="Group 63"/>
              <p:cNvGrpSpPr/>
              <p:nvPr/>
            </p:nvGrpSpPr>
            <p:grpSpPr>
              <a:xfrm>
                <a:off x="2483768" y="1441984"/>
                <a:ext cx="3289114" cy="1194928"/>
                <a:chOff x="2483768" y="1441984"/>
                <a:chExt cx="3289114" cy="1194928"/>
              </a:xfrm>
            </p:grpSpPr>
            <p:sp>
              <p:nvSpPr>
                <p:cNvPr id="29" name="TextBox 28"/>
                <p:cNvSpPr txBox="1"/>
                <p:nvPr/>
              </p:nvSpPr>
              <p:spPr>
                <a:xfrm>
                  <a:off x="4427984" y="1441984"/>
                  <a:ext cx="1344898" cy="738664"/>
                </a:xfrm>
                <a:prstGeom prst="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r>
                    <a:rPr lang="fr-FR" b="1" dirty="0" smtClean="0"/>
                    <a:t>Nom du reçu:</a:t>
                  </a:r>
                </a:p>
                <a:p>
                  <a:pPr algn="l"/>
                  <a:r>
                    <a:rPr lang="fr-FR" dirty="0" smtClean="0"/>
                    <a:t>Nom du prestataire</a:t>
                  </a:r>
                  <a:endParaRPr lang="en-US" dirty="0"/>
                </a:p>
              </p:txBody>
            </p:sp>
            <p:grpSp>
              <p:nvGrpSpPr>
                <p:cNvPr id="55" name="Group 54"/>
                <p:cNvGrpSpPr/>
                <p:nvPr/>
              </p:nvGrpSpPr>
              <p:grpSpPr>
                <a:xfrm>
                  <a:off x="2483768" y="2180648"/>
                  <a:ext cx="1944216" cy="456264"/>
                  <a:chOff x="2483768" y="2180648"/>
                  <a:chExt cx="1944216" cy="456264"/>
                </a:xfrm>
              </p:grpSpPr>
              <p:cxnSp>
                <p:nvCxnSpPr>
                  <p:cNvPr id="52" name="Straight Connector 51"/>
                  <p:cNvCxnSpPr/>
                  <p:nvPr/>
                </p:nvCxnSpPr>
                <p:spPr bwMode="auto">
                  <a:xfrm flipH="1">
                    <a:off x="2483768" y="2180648"/>
                    <a:ext cx="1944216" cy="0"/>
                  </a:xfrm>
                  <a:prstGeom prst="line">
                    <a:avLst/>
                  </a:prstGeom>
                  <a:ln>
                    <a:solidFill>
                      <a:srgbClr val="FF0000"/>
                    </a:solidFill>
                    <a:headEnd type="none" w="med" len="med"/>
                    <a:tailEnd type="none" w="med" len="med"/>
                  </a:ln>
                </p:spPr>
                <p:style>
                  <a:lnRef idx="2">
                    <a:schemeClr val="accent6"/>
                  </a:lnRef>
                  <a:fillRef idx="1">
                    <a:schemeClr val="lt1"/>
                  </a:fillRef>
                  <a:effectRef idx="0">
                    <a:schemeClr val="accent6"/>
                  </a:effectRef>
                  <a:fontRef idx="minor">
                    <a:schemeClr val="dk1"/>
                  </a:fontRef>
                </p:style>
              </p:cxnSp>
              <p:cxnSp>
                <p:nvCxnSpPr>
                  <p:cNvPr id="54" name="Straight Arrow Connector 53"/>
                  <p:cNvCxnSpPr/>
                  <p:nvPr/>
                </p:nvCxnSpPr>
                <p:spPr bwMode="auto">
                  <a:xfrm>
                    <a:off x="2483768" y="2180648"/>
                    <a:ext cx="0" cy="456264"/>
                  </a:xfrm>
                  <a:prstGeom prst="straightConnector1">
                    <a:avLst/>
                  </a:prstGeom>
                  <a:ln>
                    <a:solidFill>
                      <a:srgbClr val="FF0000"/>
                    </a:solidFill>
                    <a:headEnd type="none" w="med" len="med"/>
                    <a:tailEnd type="arrow"/>
                  </a:ln>
                </p:spPr>
                <p:style>
                  <a:lnRef idx="2">
                    <a:schemeClr val="accent6"/>
                  </a:lnRef>
                  <a:fillRef idx="1">
                    <a:schemeClr val="lt1"/>
                  </a:fillRef>
                  <a:effectRef idx="0">
                    <a:schemeClr val="accent6"/>
                  </a:effectRef>
                  <a:fontRef idx="minor">
                    <a:schemeClr val="dk1"/>
                  </a:fontRef>
                </p:style>
              </p:cxnSp>
            </p:grpSp>
          </p:grpSp>
          <p:grpSp>
            <p:nvGrpSpPr>
              <p:cNvPr id="63" name="Group 62"/>
              <p:cNvGrpSpPr/>
              <p:nvPr/>
            </p:nvGrpSpPr>
            <p:grpSpPr>
              <a:xfrm>
                <a:off x="5004048" y="3933056"/>
                <a:ext cx="2520280" cy="1674187"/>
                <a:chOff x="5004048" y="3933056"/>
                <a:chExt cx="2520280" cy="1674187"/>
              </a:xfrm>
            </p:grpSpPr>
            <p:sp>
              <p:nvSpPr>
                <p:cNvPr id="57" name="TextBox 56"/>
                <p:cNvSpPr txBox="1"/>
                <p:nvPr/>
              </p:nvSpPr>
              <p:spPr>
                <a:xfrm>
                  <a:off x="5004048" y="4653136"/>
                  <a:ext cx="1712623" cy="954107"/>
                </a:xfrm>
                <a:prstGeom prst="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r>
                    <a:rPr lang="fr-FR" b="1" dirty="0" smtClean="0"/>
                    <a:t>Description:</a:t>
                  </a:r>
                </a:p>
                <a:p>
                  <a:pPr algn="l"/>
                  <a:r>
                    <a:rPr lang="fr-FR" dirty="0" smtClean="0"/>
                    <a:t>Numéro de référence ajouté sur le reçu</a:t>
                  </a:r>
                  <a:endParaRPr lang="en-US" dirty="0"/>
                </a:p>
              </p:txBody>
            </p:sp>
            <p:cxnSp>
              <p:nvCxnSpPr>
                <p:cNvPr id="59" name="Elbow Connector 58"/>
                <p:cNvCxnSpPr>
                  <a:stCxn id="57" idx="3"/>
                </p:cNvCxnSpPr>
                <p:nvPr/>
              </p:nvCxnSpPr>
              <p:spPr bwMode="auto">
                <a:xfrm flipV="1">
                  <a:off x="6716671" y="3933056"/>
                  <a:ext cx="807657" cy="1197134"/>
                </a:xfrm>
                <a:prstGeom prst="bentConnector2">
                  <a:avLst/>
                </a:prstGeom>
                <a:ln>
                  <a:solidFill>
                    <a:srgbClr val="FF0000"/>
                  </a:solidFill>
                  <a:headEnd type="none" w="med" len="med"/>
                  <a:tailEnd type="arrow"/>
                </a:ln>
              </p:spPr>
              <p:style>
                <a:lnRef idx="2">
                  <a:schemeClr val="accent6"/>
                </a:lnRef>
                <a:fillRef idx="0">
                  <a:schemeClr val="accent6"/>
                </a:fillRef>
                <a:effectRef idx="1">
                  <a:schemeClr val="accent6"/>
                </a:effectRef>
                <a:fontRef idx="minor">
                  <a:schemeClr val="tx1"/>
                </a:fontRef>
              </p:style>
            </p:cxnSp>
          </p:grpSp>
        </p:grpSp>
      </p:grpSp>
    </p:spTree>
    <p:extLst>
      <p:ext uri="{BB962C8B-B14F-4D97-AF65-F5344CB8AC3E}">
        <p14:creationId xmlns:p14="http://schemas.microsoft.com/office/powerpoint/2010/main" val="3864376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Etapes de soumission des dépenses</a:t>
            </a: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fr-FR" dirty="0" smtClean="0">
                <a:solidFill>
                  <a:srgbClr val="FF0000"/>
                </a:solidFill>
              </a:rPr>
              <a:t>Numéroter</a:t>
            </a:r>
            <a:r>
              <a:rPr lang="fr-FR" dirty="0" smtClean="0"/>
              <a:t> tous les reçus </a:t>
            </a:r>
          </a:p>
          <a:p>
            <a:pPr marL="514350" indent="-514350">
              <a:buFont typeface="+mj-lt"/>
              <a:buAutoNum type="arabicPeriod"/>
            </a:pPr>
            <a:r>
              <a:rPr lang="fr-FR" dirty="0" smtClean="0"/>
              <a:t>Insérer les données sur le </a:t>
            </a:r>
            <a:r>
              <a:rPr lang="fr-FR" dirty="0" smtClean="0">
                <a:solidFill>
                  <a:srgbClr val="FF0000"/>
                </a:solidFill>
              </a:rPr>
              <a:t>fichier </a:t>
            </a:r>
            <a:r>
              <a:rPr lang="fr-FR" dirty="0">
                <a:solidFill>
                  <a:srgbClr val="FF0000"/>
                </a:solidFill>
              </a:rPr>
              <a:t>E</a:t>
            </a:r>
            <a:r>
              <a:rPr lang="fr-FR" dirty="0" smtClean="0">
                <a:solidFill>
                  <a:srgbClr val="FF0000"/>
                </a:solidFill>
              </a:rPr>
              <a:t>xcel</a:t>
            </a:r>
            <a:r>
              <a:rPr lang="fr-FR" dirty="0" smtClean="0"/>
              <a:t> présenté ci-dessus</a:t>
            </a:r>
          </a:p>
          <a:p>
            <a:pPr marL="514350" indent="-514350">
              <a:buFont typeface="+mj-lt"/>
              <a:buAutoNum type="arabicPeriod"/>
            </a:pPr>
            <a:r>
              <a:rPr lang="fr-FR" dirty="0" smtClean="0">
                <a:solidFill>
                  <a:srgbClr val="FF0000"/>
                </a:solidFill>
              </a:rPr>
              <a:t>Scanner les reçus par ordre croissant</a:t>
            </a:r>
            <a:r>
              <a:rPr lang="fr-FR" dirty="0" smtClean="0"/>
              <a:t> pour </a:t>
            </a:r>
            <a:r>
              <a:rPr lang="fr-FR" dirty="0" smtClean="0">
                <a:solidFill>
                  <a:srgbClr val="FF0000"/>
                </a:solidFill>
              </a:rPr>
              <a:t>avoir un fichier PDF unique</a:t>
            </a:r>
            <a:r>
              <a:rPr lang="fr-FR" dirty="0" smtClean="0"/>
              <a:t> de tous vos reçus</a:t>
            </a:r>
          </a:p>
          <a:p>
            <a:pPr marL="514350" indent="-514350">
              <a:buFont typeface="+mj-lt"/>
              <a:buAutoNum type="arabicPeriod"/>
            </a:pPr>
            <a:r>
              <a:rPr lang="fr-FR" dirty="0" smtClean="0"/>
              <a:t>Envoyer le fichier de reçu et le fichier Excel à l’agent AOA pour vérification et validation</a:t>
            </a:r>
            <a:endParaRPr lang="en-US" dirty="0"/>
          </a:p>
        </p:txBody>
      </p:sp>
      <p:sp>
        <p:nvSpPr>
          <p:cNvPr id="4" name="Slide Number Placeholder 3"/>
          <p:cNvSpPr>
            <a:spLocks noGrp="1"/>
          </p:cNvSpPr>
          <p:nvPr>
            <p:ph type="sldNum" sz="quarter" idx="10"/>
          </p:nvPr>
        </p:nvSpPr>
        <p:spPr/>
        <p:txBody>
          <a:bodyPr/>
          <a:lstStyle/>
          <a:p>
            <a:pPr>
              <a:defRPr/>
            </a:pPr>
            <a:fld id="{CEE1FCD9-F150-4C70-8317-A7D77C774BAC}" type="slidenum">
              <a:rPr lang="de-CH" smtClean="0"/>
              <a:pPr>
                <a:defRPr/>
              </a:pPr>
              <a:t>4</a:t>
            </a:fld>
            <a:endParaRPr lang="de-CH" dirty="0"/>
          </a:p>
        </p:txBody>
      </p:sp>
    </p:spTree>
    <p:extLst>
      <p:ext uri="{BB962C8B-B14F-4D97-AF65-F5344CB8AC3E}">
        <p14:creationId xmlns:p14="http://schemas.microsoft.com/office/powerpoint/2010/main" val="3463996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77225" cy="1319808"/>
          </a:xfrm>
        </p:spPr>
        <p:txBody>
          <a:bodyPr/>
          <a:lstStyle/>
          <a:p>
            <a:r>
              <a:rPr lang="fr-FR" dirty="0" smtClean="0">
                <a:solidFill>
                  <a:srgbClr val="0D3F6A"/>
                </a:solidFill>
              </a:rPr>
              <a:t>Cas pratique !</a:t>
            </a:r>
            <a:br>
              <a:rPr lang="fr-FR" dirty="0" smtClean="0">
                <a:solidFill>
                  <a:srgbClr val="0D3F6A"/>
                </a:solidFill>
              </a:rPr>
            </a:br>
            <a:r>
              <a:rPr lang="fr-FR" dirty="0" smtClean="0">
                <a:solidFill>
                  <a:srgbClr val="0D3F6A"/>
                </a:solidFill>
              </a:rPr>
              <a:t>Exemple </a:t>
            </a:r>
            <a:r>
              <a:rPr lang="fr-FR" dirty="0">
                <a:solidFill>
                  <a:srgbClr val="0D3F6A"/>
                </a:solidFill>
              </a:rPr>
              <a:t>spécifique sur la façon </a:t>
            </a:r>
            <a:r>
              <a:rPr lang="fr-FR" dirty="0" smtClean="0">
                <a:solidFill>
                  <a:srgbClr val="0D3F6A"/>
                </a:solidFill>
              </a:rPr>
              <a:t>de remplir </a:t>
            </a:r>
            <a:r>
              <a:rPr lang="fr-FR" dirty="0">
                <a:solidFill>
                  <a:srgbClr val="0D3F6A"/>
                </a:solidFill>
              </a:rPr>
              <a:t>le fichier Excel</a:t>
            </a:r>
            <a:r>
              <a:rPr lang="en-US" dirty="0" smtClean="0">
                <a:solidFill>
                  <a:srgbClr val="0D3F6A"/>
                </a:solidFill>
              </a:rPr>
              <a:t>	</a:t>
            </a:r>
            <a:br>
              <a:rPr lang="en-US" dirty="0" smtClean="0">
                <a:solidFill>
                  <a:srgbClr val="0D3F6A"/>
                </a:solidFill>
              </a:rPr>
            </a:br>
            <a:endParaRPr lang="en-US" dirty="0">
              <a:solidFill>
                <a:srgbClr val="0D3F6A"/>
              </a:solidFill>
            </a:endParaRPr>
          </a:p>
        </p:txBody>
      </p:sp>
      <p:sp>
        <p:nvSpPr>
          <p:cNvPr id="4" name="Slide Number Placeholder 3"/>
          <p:cNvSpPr>
            <a:spLocks noGrp="1"/>
          </p:cNvSpPr>
          <p:nvPr>
            <p:ph type="sldNum" sz="quarter" idx="10"/>
          </p:nvPr>
        </p:nvSpPr>
        <p:spPr/>
        <p:txBody>
          <a:bodyPr/>
          <a:lstStyle/>
          <a:p>
            <a:pPr>
              <a:defRPr/>
            </a:pPr>
            <a:fld id="{CEE1FCD9-F150-4C70-8317-A7D77C774BAC}" type="slidenum">
              <a:rPr lang="de-CH" smtClean="0"/>
              <a:pPr>
                <a:defRPr/>
              </a:pPr>
              <a:t>5</a:t>
            </a:fld>
            <a:endParaRPr lang="de-CH" dirty="0"/>
          </a:p>
        </p:txBody>
      </p:sp>
      <p:sp>
        <p:nvSpPr>
          <p:cNvPr id="7" name="TextBox 6"/>
          <p:cNvSpPr txBox="1"/>
          <p:nvPr/>
        </p:nvSpPr>
        <p:spPr>
          <a:xfrm>
            <a:off x="395536" y="1988839"/>
            <a:ext cx="3528392" cy="523220"/>
          </a:xfrm>
          <a:prstGeom prst="rect">
            <a:avLst/>
          </a:prstGeom>
          <a:noFill/>
        </p:spPr>
        <p:txBody>
          <a:bodyPr wrap="square" rtlCol="0">
            <a:spAutoFit/>
          </a:bodyPr>
          <a:lstStyle/>
          <a:p>
            <a:pPr algn="l"/>
            <a:r>
              <a:rPr lang="fr-FR" dirty="0"/>
              <a:t>Vous avez </a:t>
            </a:r>
            <a:r>
              <a:rPr lang="fr-FR" dirty="0" smtClean="0"/>
              <a:t>ici un </a:t>
            </a:r>
            <a:r>
              <a:rPr lang="fr-FR" dirty="0"/>
              <a:t>reçu d'hôtel officiel et les détails doivent être divisés en catégories</a:t>
            </a:r>
            <a:endParaRPr lang="en-GB"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5936" y="1484784"/>
            <a:ext cx="3165202" cy="50777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9" name="Straight Arrow Connector 8"/>
          <p:cNvCxnSpPr/>
          <p:nvPr/>
        </p:nvCxnSpPr>
        <p:spPr bwMode="auto">
          <a:xfrm flipH="1">
            <a:off x="2843808" y="3356992"/>
            <a:ext cx="1224136" cy="0"/>
          </a:xfrm>
          <a:prstGeom prst="straightConnector1">
            <a:avLst/>
          </a:prstGeom>
          <a:solidFill>
            <a:srgbClr val="C0C0C0"/>
          </a:solidFill>
          <a:ln w="9525" cap="flat" cmpd="sng" algn="ctr">
            <a:solidFill>
              <a:schemeClr val="tx1"/>
            </a:solidFill>
            <a:prstDash val="solid"/>
            <a:round/>
            <a:headEnd type="none" w="med" len="med"/>
            <a:tailEnd type="arrow"/>
          </a:ln>
          <a:effectLst/>
        </p:spPr>
      </p:cxnSp>
      <p:sp>
        <p:nvSpPr>
          <p:cNvPr id="10" name="TextBox 9"/>
          <p:cNvSpPr txBox="1"/>
          <p:nvPr/>
        </p:nvSpPr>
        <p:spPr>
          <a:xfrm>
            <a:off x="539552" y="3140968"/>
            <a:ext cx="2232248" cy="307777"/>
          </a:xfrm>
          <a:prstGeom prst="rect">
            <a:avLst/>
          </a:prstGeom>
          <a:noFill/>
        </p:spPr>
        <p:txBody>
          <a:bodyPr wrap="square" rtlCol="0">
            <a:spAutoFit/>
          </a:bodyPr>
          <a:lstStyle/>
          <a:p>
            <a:r>
              <a:rPr lang="de-CH" dirty="0" smtClean="0"/>
              <a:t>Hotel </a:t>
            </a:r>
            <a:r>
              <a:rPr lang="de-CH" dirty="0" err="1" smtClean="0"/>
              <a:t>costs</a:t>
            </a:r>
            <a:endParaRPr lang="en-GB" dirty="0"/>
          </a:p>
        </p:txBody>
      </p:sp>
      <p:cxnSp>
        <p:nvCxnSpPr>
          <p:cNvPr id="12" name="Straight Arrow Connector 11"/>
          <p:cNvCxnSpPr/>
          <p:nvPr/>
        </p:nvCxnSpPr>
        <p:spPr bwMode="auto">
          <a:xfrm flipH="1">
            <a:off x="2915816" y="3789040"/>
            <a:ext cx="1008112" cy="144016"/>
          </a:xfrm>
          <a:prstGeom prst="straightConnector1">
            <a:avLst/>
          </a:prstGeom>
          <a:solidFill>
            <a:srgbClr val="C0C0C0"/>
          </a:solidFill>
          <a:ln w="9525" cap="flat" cmpd="sng" algn="ctr">
            <a:solidFill>
              <a:schemeClr val="tx1"/>
            </a:solidFill>
            <a:prstDash val="solid"/>
            <a:round/>
            <a:headEnd type="none" w="med" len="med"/>
            <a:tailEnd type="arrow"/>
          </a:ln>
          <a:effectLst/>
        </p:spPr>
      </p:cxnSp>
      <p:cxnSp>
        <p:nvCxnSpPr>
          <p:cNvPr id="14" name="Straight Arrow Connector 13"/>
          <p:cNvCxnSpPr/>
          <p:nvPr/>
        </p:nvCxnSpPr>
        <p:spPr bwMode="auto">
          <a:xfrm flipH="1" flipV="1">
            <a:off x="2915816" y="4023656"/>
            <a:ext cx="1008112" cy="53416"/>
          </a:xfrm>
          <a:prstGeom prst="straightConnector1">
            <a:avLst/>
          </a:prstGeom>
          <a:solidFill>
            <a:srgbClr val="C0C0C0"/>
          </a:solidFill>
          <a:ln w="9525" cap="flat" cmpd="sng" algn="ctr">
            <a:solidFill>
              <a:schemeClr val="tx1"/>
            </a:solidFill>
            <a:prstDash val="solid"/>
            <a:round/>
            <a:headEnd type="none" w="med" len="med"/>
            <a:tailEnd type="arrow"/>
          </a:ln>
          <a:effectLst/>
        </p:spPr>
      </p:cxnSp>
      <p:cxnSp>
        <p:nvCxnSpPr>
          <p:cNvPr id="16" name="Straight Arrow Connector 15"/>
          <p:cNvCxnSpPr/>
          <p:nvPr/>
        </p:nvCxnSpPr>
        <p:spPr bwMode="auto">
          <a:xfrm flipH="1" flipV="1">
            <a:off x="2915816" y="4077072"/>
            <a:ext cx="1008112" cy="360040"/>
          </a:xfrm>
          <a:prstGeom prst="straightConnector1">
            <a:avLst/>
          </a:prstGeom>
          <a:solidFill>
            <a:srgbClr val="C0C0C0"/>
          </a:solidFill>
          <a:ln w="9525" cap="flat" cmpd="sng" algn="ctr">
            <a:solidFill>
              <a:schemeClr val="tx1"/>
            </a:solidFill>
            <a:prstDash val="solid"/>
            <a:round/>
            <a:headEnd type="none" w="med" len="med"/>
            <a:tailEnd type="arrow"/>
          </a:ln>
          <a:effectLst/>
        </p:spPr>
      </p:cxnSp>
      <p:sp>
        <p:nvSpPr>
          <p:cNvPr id="17" name="TextBox 16"/>
          <p:cNvSpPr txBox="1"/>
          <p:nvPr/>
        </p:nvSpPr>
        <p:spPr>
          <a:xfrm>
            <a:off x="755576" y="3933056"/>
            <a:ext cx="2016224" cy="307777"/>
          </a:xfrm>
          <a:prstGeom prst="rect">
            <a:avLst/>
          </a:prstGeom>
          <a:noFill/>
        </p:spPr>
        <p:txBody>
          <a:bodyPr wrap="square" rtlCol="0">
            <a:spAutoFit/>
          </a:bodyPr>
          <a:lstStyle/>
          <a:p>
            <a:r>
              <a:rPr lang="de-CH" dirty="0" smtClean="0"/>
              <a:t>Food </a:t>
            </a:r>
            <a:r>
              <a:rPr lang="de-CH" dirty="0" err="1" smtClean="0"/>
              <a:t>costs</a:t>
            </a:r>
            <a:endParaRPr lang="en-GB" dirty="0"/>
          </a:p>
        </p:txBody>
      </p:sp>
      <p:cxnSp>
        <p:nvCxnSpPr>
          <p:cNvPr id="19" name="Straight Arrow Connector 18"/>
          <p:cNvCxnSpPr/>
          <p:nvPr/>
        </p:nvCxnSpPr>
        <p:spPr bwMode="auto">
          <a:xfrm flipH="1">
            <a:off x="2987824" y="4797152"/>
            <a:ext cx="936104" cy="288032"/>
          </a:xfrm>
          <a:prstGeom prst="straightConnector1">
            <a:avLst/>
          </a:prstGeom>
          <a:solidFill>
            <a:srgbClr val="C0C0C0"/>
          </a:solidFill>
          <a:ln w="9525" cap="flat" cmpd="sng" algn="ctr">
            <a:solidFill>
              <a:schemeClr val="tx1"/>
            </a:solidFill>
            <a:prstDash val="solid"/>
            <a:round/>
            <a:headEnd type="none" w="med" len="med"/>
            <a:tailEnd type="arrow"/>
          </a:ln>
          <a:effectLst/>
        </p:spPr>
      </p:cxnSp>
      <p:sp>
        <p:nvSpPr>
          <p:cNvPr id="20" name="TextBox 19"/>
          <p:cNvSpPr txBox="1"/>
          <p:nvPr/>
        </p:nvSpPr>
        <p:spPr>
          <a:xfrm>
            <a:off x="1619672" y="4941168"/>
            <a:ext cx="1368152" cy="307777"/>
          </a:xfrm>
          <a:prstGeom prst="rect">
            <a:avLst/>
          </a:prstGeom>
          <a:noFill/>
        </p:spPr>
        <p:txBody>
          <a:bodyPr wrap="square" rtlCol="0">
            <a:spAutoFit/>
          </a:bodyPr>
          <a:lstStyle/>
          <a:p>
            <a:r>
              <a:rPr lang="de-CH" dirty="0" err="1" smtClean="0"/>
              <a:t>Venue</a:t>
            </a:r>
            <a:r>
              <a:rPr lang="de-CH" dirty="0" smtClean="0"/>
              <a:t> </a:t>
            </a:r>
            <a:r>
              <a:rPr lang="de-CH" dirty="0" err="1" smtClean="0"/>
              <a:t>costs</a:t>
            </a:r>
            <a:endParaRPr lang="en-GB" dirty="0"/>
          </a:p>
        </p:txBody>
      </p:sp>
      <p:sp>
        <p:nvSpPr>
          <p:cNvPr id="21" name="TextBox 20"/>
          <p:cNvSpPr txBox="1"/>
          <p:nvPr/>
        </p:nvSpPr>
        <p:spPr>
          <a:xfrm>
            <a:off x="7380312" y="1556792"/>
            <a:ext cx="1584176" cy="3970318"/>
          </a:xfrm>
          <a:prstGeom prst="rect">
            <a:avLst/>
          </a:prstGeom>
          <a:noFill/>
        </p:spPr>
        <p:txBody>
          <a:bodyPr wrap="square" rtlCol="0">
            <a:spAutoFit/>
          </a:bodyPr>
          <a:lstStyle/>
          <a:p>
            <a:pPr algn="l"/>
            <a:r>
              <a:rPr lang="fr-FR" b="1" dirty="0">
                <a:solidFill>
                  <a:srgbClr val="FF0000"/>
                </a:solidFill>
              </a:rPr>
              <a:t>Dans le cas où le reçu de l'hôtel ne montre pas tous les détails concernant les nuitées / la nourriture / le lieu, vous devez fractionner le montant en fonction du budget soumis à titre d'exception. Si les détails sont sur le reçu, la division exacte est obligatoire!</a:t>
            </a:r>
            <a:endParaRPr lang="en-GB" b="1" dirty="0">
              <a:solidFill>
                <a:srgbClr val="FF0000"/>
              </a:solidFill>
            </a:endParaRPr>
          </a:p>
        </p:txBody>
      </p:sp>
      <p:sp>
        <p:nvSpPr>
          <p:cNvPr id="22" name="Right Arrow 21"/>
          <p:cNvSpPr/>
          <p:nvPr/>
        </p:nvSpPr>
        <p:spPr bwMode="auto">
          <a:xfrm>
            <a:off x="3275856" y="6093296"/>
            <a:ext cx="648072" cy="469233"/>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smtClean="0">
              <a:ln>
                <a:noFill/>
              </a:ln>
              <a:solidFill>
                <a:schemeClr val="tx1"/>
              </a:solidFill>
              <a:effectLst/>
              <a:latin typeface="Arial" charset="0"/>
            </a:endParaRPr>
          </a:p>
        </p:txBody>
      </p:sp>
      <p:sp>
        <p:nvSpPr>
          <p:cNvPr id="23" name="TextBox 22"/>
          <p:cNvSpPr txBox="1"/>
          <p:nvPr/>
        </p:nvSpPr>
        <p:spPr>
          <a:xfrm>
            <a:off x="4044801" y="6174023"/>
            <a:ext cx="576064" cy="307777"/>
          </a:xfrm>
          <a:prstGeom prst="rect">
            <a:avLst/>
          </a:prstGeom>
          <a:noFill/>
        </p:spPr>
        <p:txBody>
          <a:bodyPr wrap="square" rtlCol="0">
            <a:spAutoFit/>
          </a:bodyPr>
          <a:lstStyle/>
          <a:p>
            <a:r>
              <a:rPr lang="de-CH" dirty="0" smtClean="0"/>
              <a:t>1</a:t>
            </a:r>
            <a:endParaRPr lang="en-GB" dirty="0"/>
          </a:p>
        </p:txBody>
      </p:sp>
      <p:sp>
        <p:nvSpPr>
          <p:cNvPr id="24" name="TextBox 23"/>
          <p:cNvSpPr txBox="1"/>
          <p:nvPr/>
        </p:nvSpPr>
        <p:spPr>
          <a:xfrm>
            <a:off x="683568" y="5445224"/>
            <a:ext cx="2520280" cy="954107"/>
          </a:xfrm>
          <a:prstGeom prst="rect">
            <a:avLst/>
          </a:prstGeom>
          <a:noFill/>
        </p:spPr>
        <p:txBody>
          <a:bodyPr wrap="square" rtlCol="0">
            <a:spAutoFit/>
          </a:bodyPr>
          <a:lstStyle/>
          <a:p>
            <a:r>
              <a:rPr lang="fr-FR" dirty="0" smtClean="0">
                <a:solidFill>
                  <a:srgbClr val="FF0000"/>
                </a:solidFill>
              </a:rPr>
              <a:t>1 – Attribuer </a:t>
            </a:r>
            <a:r>
              <a:rPr lang="fr-FR" dirty="0">
                <a:solidFill>
                  <a:srgbClr val="FF0000"/>
                </a:solidFill>
              </a:rPr>
              <a:t>un numéro de référence </a:t>
            </a:r>
            <a:r>
              <a:rPr lang="fr-FR" dirty="0" smtClean="0">
                <a:solidFill>
                  <a:srgbClr val="FF0000"/>
                </a:solidFill>
              </a:rPr>
              <a:t>au reçu ( écrire de manière visible avec un stylo avant de scanner )</a:t>
            </a:r>
            <a:endParaRPr lang="en-GB" dirty="0">
              <a:solidFill>
                <a:srgbClr val="FF0000"/>
              </a:solidFill>
            </a:endParaRPr>
          </a:p>
        </p:txBody>
      </p:sp>
    </p:spTree>
    <p:extLst>
      <p:ext uri="{BB962C8B-B14F-4D97-AF65-F5344CB8AC3E}">
        <p14:creationId xmlns:p14="http://schemas.microsoft.com/office/powerpoint/2010/main" val="17397934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solidFill>
                  <a:srgbClr val="0D3F6A"/>
                </a:solidFill>
              </a:rPr>
              <a:t>Insérer des données dans un fichier Excel</a:t>
            </a:r>
            <a:endParaRPr lang="en-US" dirty="0">
              <a:solidFill>
                <a:srgbClr val="0D3F6A"/>
              </a:solidFill>
            </a:endParaRPr>
          </a:p>
        </p:txBody>
      </p:sp>
      <p:sp>
        <p:nvSpPr>
          <p:cNvPr id="4" name="Slide Number Placeholder 3"/>
          <p:cNvSpPr>
            <a:spLocks noGrp="1"/>
          </p:cNvSpPr>
          <p:nvPr>
            <p:ph type="sldNum" sz="quarter" idx="10"/>
          </p:nvPr>
        </p:nvSpPr>
        <p:spPr/>
        <p:txBody>
          <a:bodyPr/>
          <a:lstStyle/>
          <a:p>
            <a:pPr>
              <a:defRPr/>
            </a:pPr>
            <a:fld id="{CEE1FCD9-F150-4C70-8317-A7D77C774BAC}" type="slidenum">
              <a:rPr lang="de-CH" smtClean="0"/>
              <a:pPr>
                <a:defRPr/>
              </a:pPr>
              <a:t>6</a:t>
            </a:fld>
            <a:endParaRPr lang="de-CH" dirty="0"/>
          </a:p>
        </p:txBody>
      </p:sp>
      <p:pic>
        <p:nvPicPr>
          <p:cNvPr id="41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181100"/>
            <a:ext cx="7880350" cy="1498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p:cNvSpPr txBox="1"/>
          <p:nvPr/>
        </p:nvSpPr>
        <p:spPr>
          <a:xfrm>
            <a:off x="467544" y="2996952"/>
            <a:ext cx="2304256" cy="954107"/>
          </a:xfrm>
          <a:prstGeom prst="rect">
            <a:avLst/>
          </a:prstGeom>
          <a:solidFill>
            <a:schemeClr val="accent3">
              <a:lumMod val="65000"/>
            </a:schemeClr>
          </a:solidFill>
        </p:spPr>
        <p:txBody>
          <a:bodyPr wrap="square" rtlCol="0">
            <a:spAutoFit/>
          </a:bodyPr>
          <a:lstStyle/>
          <a:p>
            <a:r>
              <a:rPr lang="fr-FR" dirty="0"/>
              <a:t>Sous la colonne Type de reçu, il y a un menu déroulant où vous devez choisir le type de reçu</a:t>
            </a:r>
            <a:endParaRPr lang="en-GB" dirty="0"/>
          </a:p>
        </p:txBody>
      </p:sp>
      <p:cxnSp>
        <p:nvCxnSpPr>
          <p:cNvPr id="10" name="Straight Arrow Connector 9"/>
          <p:cNvCxnSpPr/>
          <p:nvPr/>
        </p:nvCxnSpPr>
        <p:spPr bwMode="auto">
          <a:xfrm>
            <a:off x="1259632" y="2276872"/>
            <a:ext cx="504056" cy="720080"/>
          </a:xfrm>
          <a:prstGeom prst="straightConnector1">
            <a:avLst/>
          </a:prstGeom>
          <a:solidFill>
            <a:srgbClr val="C0C0C0"/>
          </a:solidFill>
          <a:ln w="9525" cap="flat" cmpd="sng" algn="ctr">
            <a:solidFill>
              <a:schemeClr val="tx1"/>
            </a:solidFill>
            <a:prstDash val="solid"/>
            <a:round/>
            <a:headEnd type="none" w="med" len="med"/>
            <a:tailEnd type="arrow"/>
          </a:ln>
          <a:effectLst/>
        </p:spPr>
      </p:cxnSp>
      <p:pic>
        <p:nvPicPr>
          <p:cNvPr id="410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4237534"/>
            <a:ext cx="6599237" cy="1546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2" name="Straight Arrow Connector 11"/>
          <p:cNvCxnSpPr/>
          <p:nvPr/>
        </p:nvCxnSpPr>
        <p:spPr bwMode="auto">
          <a:xfrm flipV="1">
            <a:off x="6444208" y="4174937"/>
            <a:ext cx="648072" cy="846093"/>
          </a:xfrm>
          <a:prstGeom prst="straightConnector1">
            <a:avLst/>
          </a:prstGeom>
          <a:solidFill>
            <a:srgbClr val="C0C0C0"/>
          </a:solidFill>
          <a:ln w="9525" cap="flat" cmpd="sng" algn="ctr">
            <a:solidFill>
              <a:schemeClr val="tx1"/>
            </a:solidFill>
            <a:prstDash val="solid"/>
            <a:round/>
            <a:headEnd type="none" w="med" len="med"/>
            <a:tailEnd type="arrow"/>
          </a:ln>
          <a:effectLst/>
        </p:spPr>
      </p:cxnSp>
      <p:sp>
        <p:nvSpPr>
          <p:cNvPr id="13" name="TextBox 12"/>
          <p:cNvSpPr txBox="1"/>
          <p:nvPr/>
        </p:nvSpPr>
        <p:spPr>
          <a:xfrm>
            <a:off x="5508104" y="2996952"/>
            <a:ext cx="2952328" cy="1169551"/>
          </a:xfrm>
          <a:prstGeom prst="rect">
            <a:avLst/>
          </a:prstGeom>
          <a:solidFill>
            <a:schemeClr val="accent3">
              <a:lumMod val="65000"/>
            </a:schemeClr>
          </a:solidFill>
        </p:spPr>
        <p:txBody>
          <a:bodyPr wrap="square" rtlCol="0">
            <a:spAutoFit/>
          </a:bodyPr>
          <a:lstStyle/>
          <a:p>
            <a:r>
              <a:rPr lang="fr-FR" dirty="0" smtClean="0"/>
              <a:t>sous </a:t>
            </a:r>
            <a:r>
              <a:rPr lang="fr-FR" dirty="0"/>
              <a:t>la rubrique «Budget item </a:t>
            </a:r>
            <a:r>
              <a:rPr lang="fr-FR" dirty="0" err="1"/>
              <a:t>category</a:t>
            </a:r>
            <a:r>
              <a:rPr lang="fr-FR" dirty="0"/>
              <a:t>», vous trouverez un menu déroulant où vous devez classer les coûts comme dans le reçu de la page précédente.</a:t>
            </a:r>
            <a:endParaRPr lang="en-GB" dirty="0"/>
          </a:p>
        </p:txBody>
      </p:sp>
      <p:cxnSp>
        <p:nvCxnSpPr>
          <p:cNvPr id="15" name="Straight Arrow Connector 14"/>
          <p:cNvCxnSpPr/>
          <p:nvPr/>
        </p:nvCxnSpPr>
        <p:spPr bwMode="auto">
          <a:xfrm flipV="1">
            <a:off x="1619672" y="1412776"/>
            <a:ext cx="1296144" cy="792088"/>
          </a:xfrm>
          <a:prstGeom prst="straightConnector1">
            <a:avLst/>
          </a:prstGeom>
          <a:solidFill>
            <a:srgbClr val="C0C0C0"/>
          </a:solidFill>
          <a:ln w="9525" cap="flat" cmpd="sng" algn="ctr">
            <a:solidFill>
              <a:schemeClr val="tx1"/>
            </a:solidFill>
            <a:prstDash val="solid"/>
            <a:round/>
            <a:headEnd type="none" w="med" len="med"/>
            <a:tailEnd type="arrow"/>
          </a:ln>
          <a:effectLst/>
        </p:spPr>
      </p:cxnSp>
      <p:sp>
        <p:nvSpPr>
          <p:cNvPr id="16" name="TextBox 15"/>
          <p:cNvSpPr txBox="1"/>
          <p:nvPr/>
        </p:nvSpPr>
        <p:spPr>
          <a:xfrm>
            <a:off x="3131840" y="980728"/>
            <a:ext cx="5328592" cy="738664"/>
          </a:xfrm>
          <a:prstGeom prst="rect">
            <a:avLst/>
          </a:prstGeom>
          <a:solidFill>
            <a:schemeClr val="accent3">
              <a:lumMod val="65000"/>
            </a:schemeClr>
          </a:solidFill>
        </p:spPr>
        <p:txBody>
          <a:bodyPr wrap="square" rtlCol="0">
            <a:spAutoFit/>
          </a:bodyPr>
          <a:lstStyle/>
          <a:p>
            <a:pPr algn="l"/>
            <a:r>
              <a:rPr lang="fr-FR" dirty="0"/>
              <a:t>Insérer la référence du numéro de reçu. Dans ce cas, toutes </a:t>
            </a:r>
            <a:r>
              <a:rPr lang="fr-FR" dirty="0" smtClean="0"/>
              <a:t>les 3 lignes </a:t>
            </a:r>
            <a:r>
              <a:rPr lang="fr-FR" dirty="0"/>
              <a:t>dans la feuille Excel ont le même </a:t>
            </a:r>
            <a:r>
              <a:rPr lang="fr-FR" dirty="0" smtClean="0"/>
              <a:t>numéro </a:t>
            </a:r>
            <a:r>
              <a:rPr lang="fr-FR" dirty="0"/>
              <a:t>car il s'agit d'une </a:t>
            </a:r>
            <a:r>
              <a:rPr lang="fr-FR" dirty="0" smtClean="0"/>
              <a:t>répartition des dépenses du même reçu dans 3 catégories.</a:t>
            </a:r>
            <a:endParaRPr lang="en-GB" dirty="0"/>
          </a:p>
        </p:txBody>
      </p:sp>
      <p:cxnSp>
        <p:nvCxnSpPr>
          <p:cNvPr id="18" name="Straight Arrow Connector 17"/>
          <p:cNvCxnSpPr/>
          <p:nvPr/>
        </p:nvCxnSpPr>
        <p:spPr bwMode="auto">
          <a:xfrm flipH="1">
            <a:off x="3995936" y="5783759"/>
            <a:ext cx="144016" cy="237529"/>
          </a:xfrm>
          <a:prstGeom prst="straightConnector1">
            <a:avLst/>
          </a:prstGeom>
          <a:solidFill>
            <a:srgbClr val="C0C0C0"/>
          </a:solidFill>
          <a:ln w="9525" cap="flat" cmpd="sng" algn="ctr">
            <a:solidFill>
              <a:schemeClr val="tx1"/>
            </a:solidFill>
            <a:prstDash val="solid"/>
            <a:round/>
            <a:headEnd type="none" w="med" len="med"/>
            <a:tailEnd type="arrow"/>
          </a:ln>
          <a:effectLst/>
        </p:spPr>
      </p:cxnSp>
      <p:sp>
        <p:nvSpPr>
          <p:cNvPr id="19" name="TextBox 18"/>
          <p:cNvSpPr txBox="1"/>
          <p:nvPr/>
        </p:nvSpPr>
        <p:spPr>
          <a:xfrm>
            <a:off x="1511660" y="6093296"/>
            <a:ext cx="4068452" cy="738664"/>
          </a:xfrm>
          <a:prstGeom prst="rect">
            <a:avLst/>
          </a:prstGeom>
          <a:solidFill>
            <a:srgbClr val="FFFF00"/>
          </a:solidFill>
        </p:spPr>
        <p:txBody>
          <a:bodyPr wrap="square" rtlCol="0">
            <a:spAutoFit/>
          </a:bodyPr>
          <a:lstStyle/>
          <a:p>
            <a:r>
              <a:rPr lang="fr-FR" dirty="0">
                <a:solidFill>
                  <a:srgbClr val="FF0000"/>
                </a:solidFill>
              </a:rPr>
              <a:t>Le taux de change et le montant en USD seront complétés ultérieurement par le personnel d'AO </a:t>
            </a:r>
            <a:r>
              <a:rPr lang="fr-FR" dirty="0" smtClean="0">
                <a:solidFill>
                  <a:srgbClr val="FF0000"/>
                </a:solidFill>
              </a:rPr>
              <a:t>Alliance en utilisant le site www</a:t>
            </a:r>
            <a:r>
              <a:rPr lang="fr-FR" dirty="0">
                <a:solidFill>
                  <a:srgbClr val="FF0000"/>
                </a:solidFill>
              </a:rPr>
              <a:t>. oanda.com</a:t>
            </a:r>
            <a:endParaRPr lang="en-GB" dirty="0">
              <a:solidFill>
                <a:srgbClr val="FF0000"/>
              </a:solidFill>
            </a:endParaRPr>
          </a:p>
        </p:txBody>
      </p:sp>
    </p:spTree>
    <p:extLst>
      <p:ext uri="{BB962C8B-B14F-4D97-AF65-F5344CB8AC3E}">
        <p14:creationId xmlns:p14="http://schemas.microsoft.com/office/powerpoint/2010/main" val="253472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511480" cy="914400"/>
          </a:xfrm>
        </p:spPr>
        <p:txBody>
          <a:bodyPr/>
          <a:lstStyle/>
          <a:p>
            <a:r>
              <a:rPr lang="en-US" dirty="0" err="1" smtClean="0">
                <a:solidFill>
                  <a:srgbClr val="0D3F6A"/>
                </a:solidFill>
              </a:rPr>
              <a:t>Exemple</a:t>
            </a:r>
            <a:r>
              <a:rPr lang="en-US" dirty="0" smtClean="0">
                <a:solidFill>
                  <a:srgbClr val="0D3F6A"/>
                </a:solidFill>
              </a:rPr>
              <a:t> de </a:t>
            </a:r>
            <a:r>
              <a:rPr lang="en-US" dirty="0" err="1" smtClean="0">
                <a:solidFill>
                  <a:srgbClr val="0D3F6A"/>
                </a:solidFill>
              </a:rPr>
              <a:t>reçu</a:t>
            </a:r>
            <a:r>
              <a:rPr lang="en-US" dirty="0" smtClean="0">
                <a:solidFill>
                  <a:srgbClr val="0D3F6A"/>
                </a:solidFill>
              </a:rPr>
              <a:t> de </a:t>
            </a:r>
            <a:r>
              <a:rPr lang="en-US" dirty="0" err="1" smtClean="0">
                <a:solidFill>
                  <a:srgbClr val="0D3F6A"/>
                </a:solidFill>
              </a:rPr>
              <a:t>paiement</a:t>
            </a:r>
            <a:r>
              <a:rPr lang="en-US" dirty="0" smtClean="0">
                <a:solidFill>
                  <a:srgbClr val="0D3F6A"/>
                </a:solidFill>
              </a:rPr>
              <a:t> en </a:t>
            </a:r>
            <a:r>
              <a:rPr lang="en-US" dirty="0" err="1" smtClean="0">
                <a:solidFill>
                  <a:srgbClr val="0D3F6A"/>
                </a:solidFill>
              </a:rPr>
              <a:t>espèce</a:t>
            </a:r>
            <a:r>
              <a:rPr lang="en-US" dirty="0" smtClean="0">
                <a:solidFill>
                  <a:srgbClr val="0D3F6A"/>
                </a:solidFill>
              </a:rPr>
              <a:t> (ci-</a:t>
            </a:r>
            <a:r>
              <a:rPr lang="en-US" dirty="0" err="1" smtClean="0">
                <a:solidFill>
                  <a:srgbClr val="0D3F6A"/>
                </a:solidFill>
              </a:rPr>
              <a:t>dessous</a:t>
            </a:r>
            <a:r>
              <a:rPr lang="en-US" dirty="0" smtClean="0">
                <a:solidFill>
                  <a:srgbClr val="0D3F6A"/>
                </a:solidFill>
              </a:rPr>
              <a:t> des </a:t>
            </a:r>
            <a:r>
              <a:rPr lang="en-US" dirty="0" err="1" smtClean="0">
                <a:solidFill>
                  <a:srgbClr val="0D3F6A"/>
                </a:solidFill>
              </a:rPr>
              <a:t>frais</a:t>
            </a:r>
            <a:r>
              <a:rPr lang="en-US" dirty="0" smtClean="0">
                <a:solidFill>
                  <a:srgbClr val="0D3F6A"/>
                </a:solidFill>
              </a:rPr>
              <a:t> des transport pour participants)</a:t>
            </a:r>
            <a:br>
              <a:rPr lang="en-US" dirty="0" smtClean="0">
                <a:solidFill>
                  <a:srgbClr val="0D3F6A"/>
                </a:solidFill>
              </a:rPr>
            </a:br>
            <a:r>
              <a:rPr lang="en-US" dirty="0">
                <a:solidFill>
                  <a:srgbClr val="0D3F6A"/>
                </a:solidFill>
              </a:rPr>
              <a:t/>
            </a:r>
            <a:br>
              <a:rPr lang="en-US" dirty="0">
                <a:solidFill>
                  <a:srgbClr val="0D3F6A"/>
                </a:solidFill>
              </a:rPr>
            </a:br>
            <a:endParaRPr lang="en-US" dirty="0">
              <a:solidFill>
                <a:srgbClr val="0D3F6A"/>
              </a:solidFill>
            </a:endParaRPr>
          </a:p>
        </p:txBody>
      </p:sp>
      <p:sp>
        <p:nvSpPr>
          <p:cNvPr id="4" name="Slide Number Placeholder 3"/>
          <p:cNvSpPr>
            <a:spLocks noGrp="1"/>
          </p:cNvSpPr>
          <p:nvPr>
            <p:ph type="sldNum" sz="quarter" idx="10"/>
          </p:nvPr>
        </p:nvSpPr>
        <p:spPr/>
        <p:txBody>
          <a:bodyPr/>
          <a:lstStyle/>
          <a:p>
            <a:pPr>
              <a:defRPr/>
            </a:pPr>
            <a:fld id="{CEE1FCD9-F150-4C70-8317-A7D77C774BAC}" type="slidenum">
              <a:rPr lang="de-CH" smtClean="0"/>
              <a:pPr>
                <a:defRPr/>
              </a:pPr>
              <a:t>7</a:t>
            </a:fld>
            <a:endParaRPr lang="de-CH"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446" y="1774562"/>
            <a:ext cx="6677012" cy="18722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395536" y="3611051"/>
            <a:ext cx="7488832" cy="1077218"/>
          </a:xfrm>
          <a:prstGeom prst="rect">
            <a:avLst/>
          </a:prstGeom>
          <a:noFill/>
        </p:spPr>
        <p:txBody>
          <a:bodyPr wrap="square" rtlCol="0">
            <a:spAutoFit/>
          </a:bodyPr>
          <a:lstStyle/>
          <a:p>
            <a:pPr algn="l"/>
            <a:r>
              <a:rPr lang="fr-FR" sz="1600" dirty="0"/>
              <a:t>Dans le cas où vous avez payé un montant en espèces à chaque participant pour couvrir ses frais de transport ou d'hôtel, vous devez créer une liste avec tous les noms, numéros de téléphone et la signature du destinataire, y compris le montant payé.</a:t>
            </a:r>
            <a:endParaRPr lang="en-GB" sz="1600" dirty="0"/>
          </a:p>
        </p:txBody>
      </p:sp>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667" y="5212432"/>
            <a:ext cx="762635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395536" y="4725144"/>
            <a:ext cx="6077155" cy="338554"/>
          </a:xfrm>
          <a:prstGeom prst="rect">
            <a:avLst/>
          </a:prstGeom>
          <a:noFill/>
        </p:spPr>
        <p:txBody>
          <a:bodyPr wrap="square" rtlCol="0">
            <a:spAutoFit/>
          </a:bodyPr>
          <a:lstStyle/>
          <a:p>
            <a:pPr algn="l"/>
            <a:r>
              <a:rPr lang="fr-FR" sz="1600" b="1" dirty="0"/>
              <a:t>La feuille Excel doit être remplie comme ceci</a:t>
            </a:r>
            <a:r>
              <a:rPr lang="de-CH" sz="1600" b="1" dirty="0" smtClean="0"/>
              <a:t>:</a:t>
            </a:r>
            <a:endParaRPr lang="en-GB" sz="1600" b="1" dirty="0"/>
          </a:p>
        </p:txBody>
      </p:sp>
      <p:sp>
        <p:nvSpPr>
          <p:cNvPr id="9" name="Left Arrow 8"/>
          <p:cNvSpPr/>
          <p:nvPr/>
        </p:nvSpPr>
        <p:spPr bwMode="auto">
          <a:xfrm>
            <a:off x="7043478" y="1792240"/>
            <a:ext cx="978408" cy="484632"/>
          </a:xfrm>
          <a:prstGeom prst="left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smtClean="0">
              <a:ln>
                <a:noFill/>
              </a:ln>
              <a:solidFill>
                <a:schemeClr val="tx1"/>
              </a:solidFill>
              <a:effectLst/>
              <a:latin typeface="Arial" charset="0"/>
            </a:endParaRPr>
          </a:p>
        </p:txBody>
      </p:sp>
      <p:sp>
        <p:nvSpPr>
          <p:cNvPr id="10" name="TextBox 9"/>
          <p:cNvSpPr txBox="1"/>
          <p:nvPr/>
        </p:nvSpPr>
        <p:spPr>
          <a:xfrm>
            <a:off x="6588224" y="1834951"/>
            <a:ext cx="648072" cy="307777"/>
          </a:xfrm>
          <a:prstGeom prst="rect">
            <a:avLst/>
          </a:prstGeom>
          <a:noFill/>
        </p:spPr>
        <p:txBody>
          <a:bodyPr wrap="square" rtlCol="0">
            <a:spAutoFit/>
          </a:bodyPr>
          <a:lstStyle/>
          <a:p>
            <a:r>
              <a:rPr lang="de-CH" dirty="0" smtClean="0"/>
              <a:t>2</a:t>
            </a:r>
            <a:endParaRPr lang="en-GB" dirty="0"/>
          </a:p>
        </p:txBody>
      </p:sp>
      <p:sp>
        <p:nvSpPr>
          <p:cNvPr id="11" name="TextBox 10"/>
          <p:cNvSpPr txBox="1"/>
          <p:nvPr/>
        </p:nvSpPr>
        <p:spPr>
          <a:xfrm>
            <a:off x="7380312" y="2276872"/>
            <a:ext cx="1584176" cy="738664"/>
          </a:xfrm>
          <a:prstGeom prst="rect">
            <a:avLst/>
          </a:prstGeom>
          <a:noFill/>
        </p:spPr>
        <p:txBody>
          <a:bodyPr wrap="square" rtlCol="0">
            <a:spAutoFit/>
          </a:bodyPr>
          <a:lstStyle/>
          <a:p>
            <a:r>
              <a:rPr lang="fr-FR" dirty="0">
                <a:solidFill>
                  <a:srgbClr val="FF0000"/>
                </a:solidFill>
              </a:rPr>
              <a:t>Donnez un numéro de référence au reçu</a:t>
            </a:r>
            <a:endParaRPr lang="en-GB" dirty="0"/>
          </a:p>
        </p:txBody>
      </p:sp>
      <p:cxnSp>
        <p:nvCxnSpPr>
          <p:cNvPr id="13" name="Straight Arrow Connector 12"/>
          <p:cNvCxnSpPr/>
          <p:nvPr/>
        </p:nvCxnSpPr>
        <p:spPr bwMode="auto">
          <a:xfrm flipH="1">
            <a:off x="5652120" y="5517232"/>
            <a:ext cx="1260140" cy="288032"/>
          </a:xfrm>
          <a:prstGeom prst="straightConnector1">
            <a:avLst/>
          </a:prstGeom>
          <a:solidFill>
            <a:srgbClr val="C0C0C0"/>
          </a:solidFill>
          <a:ln w="9525" cap="flat" cmpd="sng" algn="ctr">
            <a:solidFill>
              <a:schemeClr val="tx1"/>
            </a:solidFill>
            <a:prstDash val="solid"/>
            <a:round/>
            <a:headEnd type="none" w="med" len="med"/>
            <a:tailEnd type="arrow"/>
          </a:ln>
          <a:effectLst/>
        </p:spPr>
      </p:cxnSp>
      <p:sp>
        <p:nvSpPr>
          <p:cNvPr id="14" name="TextBox 13"/>
          <p:cNvSpPr txBox="1"/>
          <p:nvPr/>
        </p:nvSpPr>
        <p:spPr>
          <a:xfrm>
            <a:off x="644847" y="5805264"/>
            <a:ext cx="6735465" cy="738664"/>
          </a:xfrm>
          <a:prstGeom prst="rect">
            <a:avLst/>
          </a:prstGeom>
          <a:noFill/>
        </p:spPr>
        <p:txBody>
          <a:bodyPr wrap="square" rtlCol="0">
            <a:spAutoFit/>
          </a:bodyPr>
          <a:lstStyle/>
          <a:p>
            <a:pPr algn="l"/>
            <a:r>
              <a:rPr lang="fr-FR" dirty="0">
                <a:solidFill>
                  <a:srgbClr val="FF0000"/>
                </a:solidFill>
              </a:rPr>
              <a:t>Sous </a:t>
            </a:r>
            <a:r>
              <a:rPr lang="fr-FR" dirty="0" smtClean="0">
                <a:solidFill>
                  <a:srgbClr val="FF0000"/>
                </a:solidFill>
              </a:rPr>
              <a:t>«Description </a:t>
            </a:r>
            <a:r>
              <a:rPr lang="fr-FR" dirty="0">
                <a:solidFill>
                  <a:srgbClr val="FF0000"/>
                </a:solidFill>
              </a:rPr>
              <a:t>supplémentaire», vous devez expliquer </a:t>
            </a:r>
            <a:r>
              <a:rPr lang="fr-FR" dirty="0" smtClean="0">
                <a:solidFill>
                  <a:srgbClr val="FF0000"/>
                </a:solidFill>
              </a:rPr>
              <a:t>le motif de </a:t>
            </a:r>
            <a:r>
              <a:rPr lang="fr-FR" dirty="0">
                <a:solidFill>
                  <a:srgbClr val="FF0000"/>
                </a:solidFill>
              </a:rPr>
              <a:t>cette dépense en </a:t>
            </a:r>
            <a:r>
              <a:rPr lang="fr-FR" dirty="0" smtClean="0">
                <a:solidFill>
                  <a:srgbClr val="FF0000"/>
                </a:solidFill>
              </a:rPr>
              <a:t>espèces.  Vous devrez aussi repartir la dépenses </a:t>
            </a:r>
            <a:r>
              <a:rPr lang="fr-FR" dirty="0">
                <a:solidFill>
                  <a:srgbClr val="FF0000"/>
                </a:solidFill>
              </a:rPr>
              <a:t>au cas où l'argent </a:t>
            </a:r>
            <a:r>
              <a:rPr lang="fr-FR" dirty="0" smtClean="0">
                <a:solidFill>
                  <a:srgbClr val="FF0000"/>
                </a:solidFill>
              </a:rPr>
              <a:t>versé doit être classé dans des catégories différentes (Ex: hôtel, transport).</a:t>
            </a:r>
            <a:endParaRPr lang="en-GB" dirty="0">
              <a:solidFill>
                <a:srgbClr val="FF0000"/>
              </a:solidFill>
            </a:endParaRPr>
          </a:p>
        </p:txBody>
      </p:sp>
    </p:spTree>
    <p:extLst>
      <p:ext uri="{BB962C8B-B14F-4D97-AF65-F5344CB8AC3E}">
        <p14:creationId xmlns:p14="http://schemas.microsoft.com/office/powerpoint/2010/main" val="261698894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77225" cy="1391816"/>
          </a:xfrm>
        </p:spPr>
        <p:txBody>
          <a:bodyPr/>
          <a:lstStyle/>
          <a:p>
            <a:r>
              <a:rPr lang="fr-FR" dirty="0">
                <a:solidFill>
                  <a:srgbClr val="0D3F6A"/>
                </a:solidFill>
              </a:rPr>
              <a:t>Aucun reçu disponible (ceci doit être considéré comme une </a:t>
            </a:r>
            <a:r>
              <a:rPr lang="fr-FR" dirty="0">
                <a:solidFill>
                  <a:srgbClr val="FF0000"/>
                </a:solidFill>
              </a:rPr>
              <a:t>exception</a:t>
            </a:r>
            <a:r>
              <a:rPr lang="fr-FR" dirty="0">
                <a:solidFill>
                  <a:srgbClr val="0D3F6A"/>
                </a:solidFill>
              </a:rPr>
              <a:t> et nécessite l'autorisation d'AO Alliance)</a:t>
            </a:r>
            <a:endParaRPr lang="en-US" dirty="0">
              <a:solidFill>
                <a:srgbClr val="0D3F6A"/>
              </a:solidFill>
            </a:endParaRPr>
          </a:p>
        </p:txBody>
      </p:sp>
      <p:sp>
        <p:nvSpPr>
          <p:cNvPr id="4" name="Slide Number Placeholder 3"/>
          <p:cNvSpPr>
            <a:spLocks noGrp="1"/>
          </p:cNvSpPr>
          <p:nvPr>
            <p:ph type="sldNum" sz="quarter" idx="10"/>
          </p:nvPr>
        </p:nvSpPr>
        <p:spPr/>
        <p:txBody>
          <a:bodyPr/>
          <a:lstStyle/>
          <a:p>
            <a:pPr>
              <a:defRPr/>
            </a:pPr>
            <a:fld id="{CEE1FCD9-F150-4C70-8317-A7D77C774BAC}" type="slidenum">
              <a:rPr lang="de-CH" smtClean="0"/>
              <a:pPr>
                <a:defRPr/>
              </a:pPr>
              <a:t>8</a:t>
            </a:fld>
            <a:endParaRPr lang="de-CH" dirty="0"/>
          </a:p>
        </p:txBody>
      </p:sp>
      <p:sp>
        <p:nvSpPr>
          <p:cNvPr id="7" name="TextBox 6"/>
          <p:cNvSpPr txBox="1"/>
          <p:nvPr/>
        </p:nvSpPr>
        <p:spPr>
          <a:xfrm>
            <a:off x="395536" y="2060848"/>
            <a:ext cx="8208912" cy="1169551"/>
          </a:xfrm>
          <a:prstGeom prst="rect">
            <a:avLst/>
          </a:prstGeom>
          <a:noFill/>
        </p:spPr>
        <p:txBody>
          <a:bodyPr wrap="square" rtlCol="0">
            <a:spAutoFit/>
          </a:bodyPr>
          <a:lstStyle/>
          <a:p>
            <a:pPr algn="l"/>
            <a:r>
              <a:rPr lang="fr-FR" dirty="0">
                <a:solidFill>
                  <a:srgbClr val="FF0000"/>
                </a:solidFill>
              </a:rPr>
              <a:t>Dans des cas très exceptionnels, il n'est pas </a:t>
            </a:r>
            <a:r>
              <a:rPr lang="fr-FR" dirty="0" smtClean="0">
                <a:solidFill>
                  <a:srgbClr val="FF0000"/>
                </a:solidFill>
              </a:rPr>
              <a:t>souvent possible </a:t>
            </a:r>
            <a:r>
              <a:rPr lang="fr-FR" dirty="0">
                <a:solidFill>
                  <a:srgbClr val="FF0000"/>
                </a:solidFill>
              </a:rPr>
              <a:t>de fournir des reçus. Cela nécessite l'approbation du gestionnaire de projet AO Alliance et nécessite un rapport écrit très détaillé du président du cours expliquant pourquoi aucun reçu disponible, qui était le destinataire, la raison de la dépense et pourquoi le reçu de caisse de la page précédente n'a pas été utilisé et le montant détaillé divisé par catégorie.</a:t>
            </a:r>
            <a:endParaRPr lang="en-GB" dirty="0">
              <a:solidFill>
                <a:srgbClr val="FF0000"/>
              </a:solidFill>
            </a:endParaRPr>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937" y="3501008"/>
            <a:ext cx="8013700" cy="374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55110427"/>
      </p:ext>
    </p:extLst>
  </p:cSld>
  <p:clrMapOvr>
    <a:masterClrMapping/>
  </p:clrMapOvr>
  <p:timing>
    <p:tnLst>
      <p:par>
        <p:cTn id="1" dur="indefinite" restart="never" nodeType="tmRoot"/>
      </p:par>
    </p:tnLst>
  </p:timing>
</p:sld>
</file>

<file path=ppt/theme/theme1.xml><?xml version="1.0" encoding="utf-8"?>
<a:theme xmlns:a="http://schemas.openxmlformats.org/drawingml/2006/main" name="Presentation_AOTRAUMA_w">
  <a:themeElements>
    <a:clrScheme name="AOAF">
      <a:dk1>
        <a:srgbClr val="142E4A"/>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AOF">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de-CH" sz="1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de-CH" sz="1400" b="0" i="0" u="none" strike="noStrike" cap="none" normalizeH="0" baseline="0" smtClean="0">
            <a:ln>
              <a:noFill/>
            </a:ln>
            <a:solidFill>
              <a:schemeClr val="tx1"/>
            </a:solidFill>
            <a:effectLst/>
            <a:latin typeface="Arial" charset="0"/>
          </a:defRPr>
        </a:defPPr>
      </a:lstStyle>
    </a:lnDef>
  </a:objectDefaults>
  <a:extraClrSchemeLst>
    <a:extraClrScheme>
      <a:clrScheme name="AOF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OF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OF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OF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OF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OF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OF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OF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OF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OF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OF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OF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27E7F4CB4A47743B2029593C5767354" ma:contentTypeVersion="1" ma:contentTypeDescription="Create a new document." ma:contentTypeScope="" ma:versionID="fb8ba3bab4a291cae88a37c21bca8ad9">
  <xsd:schema xmlns:xsd="http://www.w3.org/2001/XMLSchema" xmlns:xs="http://www.w3.org/2001/XMLSchema" xmlns:p="http://schemas.microsoft.com/office/2006/metadata/properties" xmlns:ns1="http://schemas.microsoft.com/sharepoint/v3" targetNamespace="http://schemas.microsoft.com/office/2006/metadata/properties" ma:root="true" ma:fieldsID="a447206dab0015f8b9f8924535193e8c"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 ma:hidden="true" ma:internalName="PublishingStartDate">
      <xsd:simpleType>
        <xsd:restriction base="dms:Unknown"/>
      </xsd:simpleType>
    </xsd:element>
    <xsd:element name="PublishingExpirationDate" ma:index="9" nillable="true" ma:displayName="Scheduling End Date" ma:description=""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3305F6-61E7-46FC-BBBB-936196D02140}">
  <ds:schemaRefs>
    <ds:schemaRef ds:uri="http://purl.org/dc/elements/1.1/"/>
    <ds:schemaRef ds:uri="http://purl.org/dc/terms/"/>
    <ds:schemaRef ds:uri="http://schemas.microsoft.com/office/2006/documentManagement/types"/>
    <ds:schemaRef ds:uri="http://schemas.microsoft.com/sharepoint/v3"/>
    <ds:schemaRef ds:uri="http://www.w3.org/XML/1998/namespace"/>
    <ds:schemaRef ds:uri="http://schemas.microsoft.com/office/infopath/2007/PartnerControls"/>
    <ds:schemaRef ds:uri="http://schemas.openxmlformats.org/package/2006/metadata/core-properties"/>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9077E628-79A4-48C4-8633-1D5D829D1175}">
  <ds:schemaRefs>
    <ds:schemaRef ds:uri="http://schemas.microsoft.com/sharepoint/v3/contenttype/forms"/>
  </ds:schemaRefs>
</ds:datastoreItem>
</file>

<file path=customXml/itemProps3.xml><?xml version="1.0" encoding="utf-8"?>
<ds:datastoreItem xmlns:ds="http://schemas.openxmlformats.org/officeDocument/2006/customXml" ds:itemID="{FB3B2ED5-D016-4E55-8977-53F69246EFA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Presentation_AOTRAUMA_w</Template>
  <TotalTime>0</TotalTime>
  <Words>687</Words>
  <Application>Microsoft Office PowerPoint</Application>
  <PresentationFormat>On-screen Show (4:3)</PresentationFormat>
  <Paragraphs>58</Paragraphs>
  <Slides>8</Slides>
  <Notes>3</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Presentation_AOTRAUMA_w</vt:lpstr>
      <vt:lpstr>AO Alliance  Guide d’utilisateur pour la submission et la vérification des dépenses  </vt:lpstr>
      <vt:lpstr>Dans le mois après la fin du cours (applicable aux responsable de cours)</vt:lpstr>
      <vt:lpstr>Présentation du fichier Excel de calcul des coûts</vt:lpstr>
      <vt:lpstr>Etapes de soumission des dépenses</vt:lpstr>
      <vt:lpstr>Cas pratique ! Exemple spécifique sur la façon de remplir le fichier Excel  </vt:lpstr>
      <vt:lpstr>Insérer des données dans un fichier Excel</vt:lpstr>
      <vt:lpstr>Exemple de reçu de paiement en espèce (ci-dessous des frais des transport pour participants)  </vt:lpstr>
      <vt:lpstr>Aucun reçu disponible (ceci doit être considéré comme une exception et nécessite l'autorisation d'AO Alliance)</vt:lpstr>
    </vt:vector>
  </TitlesOfParts>
  <Company>AO Foundation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Cinzia Muggiasca</dc:creator>
  <cp:lastModifiedBy>Dominique Nkoa</cp:lastModifiedBy>
  <cp:revision>191</cp:revision>
  <dcterms:created xsi:type="dcterms:W3CDTF">2013-05-31T07:29:54Z</dcterms:created>
  <dcterms:modified xsi:type="dcterms:W3CDTF">2018-11-16T10:22:51Z</dcterms:modified>
  <cp:category>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0x010100427E7F4CB4A47743B2029593C5767354</vt:lpwstr>
  </property>
</Properties>
</file>